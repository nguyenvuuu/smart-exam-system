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8288000" cy="10287000"/>
  <p:notesSz cx="6858000" cy="9144000"/>
  <p:embeddedFontLst>
    <p:embeddedFont>
      <p:font typeface="Arial Bold" panose="020B0704020202020204" pitchFamily="34" charset="0"/>
      <p:regular r:id="rId43"/>
      <p:bold r:id="rId44"/>
    </p:embeddedFont>
    <p:embeddedFont>
      <p:font typeface="Arimo" panose="020B0604020202020204" charset="0"/>
      <p:regular r:id="rId45"/>
    </p:embeddedFont>
    <p:embeddedFont>
      <p:font typeface="Arimo Bold" panose="020B0604020202020204" charset="0"/>
      <p:regular r:id="rId46"/>
    </p:embeddedFont>
    <p:embeddedFont>
      <p:font typeface="Asap" panose="020B0604020202020204" charset="0"/>
      <p:regular r:id="rId47"/>
    </p:embeddedFont>
    <p:embeddedFont>
      <p:font typeface="Asap Bold" panose="020B0604020202020204" charset="0"/>
      <p:regular r:id="rId48"/>
    </p:embeddedFont>
    <p:embeddedFont>
      <p:font typeface="Montserrat Bold" panose="020B0604020202020204" charset="0"/>
      <p:regular r:id="rId49"/>
    </p:embeddedFont>
    <p:embeddedFont>
      <p:font typeface="Noto Sans Bold" panose="020B0604020202020204" charset="0"/>
      <p:regular r:id="rId50"/>
    </p:embeddedFont>
    <p:embeddedFont>
      <p:font typeface="Open Sans" panose="020B0606030504020204" pitchFamily="34" charset="0"/>
      <p:regular r:id="rId51"/>
    </p:embeddedFont>
    <p:embeddedFont>
      <p:font typeface="Open Sans Bold" panose="020B0806030504020204" charset="0"/>
      <p:regular r:id="rId52"/>
    </p:embeddedFont>
    <p:embeddedFont>
      <p:font typeface="Times New Roman Bold" panose="02020803070505020304" pitchFamily="18" charset="0"/>
      <p:regular r:id="rId53"/>
      <p:bold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2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.png"/><Relationship Id="rId10" Type="http://schemas.openxmlformats.org/officeDocument/2006/relationships/image" Target="../media/image28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2.png"/><Relationship Id="rId18" Type="http://schemas.openxmlformats.org/officeDocument/2006/relationships/image" Target="../media/image44.png"/><Relationship Id="rId3" Type="http://schemas.openxmlformats.org/officeDocument/2006/relationships/image" Target="../media/image3.png"/><Relationship Id="rId21" Type="http://schemas.openxmlformats.org/officeDocument/2006/relationships/image" Target="../media/image47.sv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1.svg"/><Relationship Id="rId23" Type="http://schemas.openxmlformats.org/officeDocument/2006/relationships/image" Target="../media/image49.svg"/><Relationship Id="rId10" Type="http://schemas.openxmlformats.org/officeDocument/2006/relationships/image" Target="../media/image37.png"/><Relationship Id="rId19" Type="http://schemas.openxmlformats.org/officeDocument/2006/relationships/image" Target="../media/image45.sv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0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2.png"/><Relationship Id="rId18" Type="http://schemas.openxmlformats.org/officeDocument/2006/relationships/image" Target="../media/image44.png"/><Relationship Id="rId3" Type="http://schemas.openxmlformats.org/officeDocument/2006/relationships/image" Target="../media/image3.png"/><Relationship Id="rId21" Type="http://schemas.openxmlformats.org/officeDocument/2006/relationships/image" Target="../media/image47.sv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1.svg"/><Relationship Id="rId23" Type="http://schemas.openxmlformats.org/officeDocument/2006/relationships/image" Target="../media/image49.svg"/><Relationship Id="rId10" Type="http://schemas.openxmlformats.org/officeDocument/2006/relationships/image" Target="../media/image37.png"/><Relationship Id="rId19" Type="http://schemas.openxmlformats.org/officeDocument/2006/relationships/image" Target="../media/image45.sv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0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3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2.png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3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jpeg"/><Relationship Id="rId5" Type="http://schemas.openxmlformats.org/officeDocument/2006/relationships/image" Target="../media/image50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8.jpe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64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0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jpeg"/><Relationship Id="rId5" Type="http://schemas.openxmlformats.org/officeDocument/2006/relationships/image" Target="../media/image86.jpeg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jpeg"/><Relationship Id="rId5" Type="http://schemas.openxmlformats.org/officeDocument/2006/relationships/image" Target="../media/image88.jpeg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jpe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jpe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3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3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11" Type="http://schemas.openxmlformats.org/officeDocument/2006/relationships/image" Target="../media/image2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2.png"/><Relationship Id="rId4" Type="http://schemas.openxmlformats.org/officeDocument/2006/relationships/image" Target="../media/image1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2.png"/><Relationship Id="rId4" Type="http://schemas.openxmlformats.org/officeDocument/2006/relationships/image" Target="../media/image1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39" y="0"/>
            <a:ext cx="18278284" cy="10287000"/>
            <a:chOff x="0" y="0"/>
            <a:chExt cx="2437104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1046" cy="13716000"/>
            </a:xfrm>
            <a:custGeom>
              <a:avLst/>
              <a:gdLst/>
              <a:ahLst/>
              <a:cxnLst/>
              <a:rect l="l" t="t" r="r" b="b"/>
              <a:pathLst>
                <a:path w="24371046" h="13716000">
                  <a:moveTo>
                    <a:pt x="0" y="0"/>
                  </a:moveTo>
                  <a:lnTo>
                    <a:pt x="24371046" y="0"/>
                  </a:lnTo>
                  <a:lnTo>
                    <a:pt x="243710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029248" y="117700"/>
            <a:ext cx="8649452" cy="1810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8"/>
              </a:lnSpc>
            </a:pPr>
            <a:r>
              <a:rPr lang="vi-VN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BỘ CÔNG THƯƠNG</a:t>
            </a:r>
          </a:p>
          <a:p>
            <a:pPr algn="ctr">
              <a:lnSpc>
                <a:spcPts val="4788"/>
              </a:lnSpc>
            </a:pPr>
            <a:r>
              <a:rPr lang="vi-VN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 ĐẠI HỌC CÔNG NGHIỆP TP. HỒ CHÍ MINH</a:t>
            </a:r>
          </a:p>
          <a:p>
            <a:pPr algn="ctr">
              <a:lnSpc>
                <a:spcPts val="4788"/>
              </a:lnSpc>
            </a:pPr>
            <a:r>
              <a:rPr lang="vi-VN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KHOA CÔNG NGHỆ THÔNG TIN</a:t>
            </a:r>
            <a:endParaRPr lang="en-US" sz="27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417397" y="2592248"/>
            <a:ext cx="13873048" cy="131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4"/>
              </a:lnSpc>
            </a:pPr>
            <a:r>
              <a:rPr lang="en-US" sz="6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BÁO CÁO KHÓA LUẬN TỐT NGHIỆP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22871" y="4581068"/>
            <a:ext cx="13673252" cy="174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XÂY DỰNG HỆ THỐNG KIỂM TRA VÀ ĐÁNH GIÁ TRỰC TUYẾN THÔNG MINH TÍCH HỢP TRÍ TUỆ NHÂN TẠO VÀ GIÁM SÁT THỜI GIAN THỰC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3726" y="7173849"/>
            <a:ext cx="4909947" cy="1389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6"/>
              </a:lnSpc>
            </a:pPr>
            <a:r>
              <a:rPr lang="vi-VN" sz="3100" b="1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GIẢNG VIÊN HƯỚNG DẪN:</a:t>
            </a:r>
          </a:p>
          <a:p>
            <a:pPr algn="l">
              <a:lnSpc>
                <a:spcPts val="5796"/>
              </a:lnSpc>
            </a:pPr>
            <a:r>
              <a:rPr lang="vi-VN" sz="3100" b="1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TS. BÙI ĐÌNH TIẾN</a:t>
            </a:r>
            <a:endParaRPr lang="en-US" sz="31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813990" y="7173859"/>
            <a:ext cx="7339498" cy="2143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96"/>
              </a:lnSpc>
            </a:pPr>
            <a:r>
              <a:rPr lang="en-US" sz="3100" b="1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SINH VIÊN THỰC HIỆN:</a:t>
            </a:r>
          </a:p>
          <a:p>
            <a:pPr algn="just">
              <a:lnSpc>
                <a:spcPts val="5796"/>
              </a:lnSpc>
            </a:pPr>
            <a:r>
              <a:rPr lang="en-US" sz="3100" b="1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PHAN NGUYỄN VŨ - 22002885</a:t>
            </a:r>
          </a:p>
          <a:p>
            <a:pPr algn="just">
              <a:lnSpc>
                <a:spcPts val="5796"/>
              </a:lnSpc>
            </a:pPr>
            <a:r>
              <a:rPr lang="en-US" sz="3100" b="1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BÙI TẤN PHÁT - 22698401</a:t>
            </a:r>
            <a:endParaRPr lang="en-US" sz="31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406984" y="-425891"/>
            <a:ext cx="5146653" cy="2193750"/>
            <a:chOff x="0" y="0"/>
            <a:chExt cx="6862204" cy="292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62191" cy="2925064"/>
            </a:xfrm>
            <a:custGeom>
              <a:avLst/>
              <a:gdLst/>
              <a:ahLst/>
              <a:cxnLst/>
              <a:rect l="l" t="t" r="r" b="b"/>
              <a:pathLst>
                <a:path w="6862191" h="2925064">
                  <a:moveTo>
                    <a:pt x="0" y="487553"/>
                  </a:moveTo>
                  <a:cubicBezTo>
                    <a:pt x="0" y="218313"/>
                    <a:pt x="218313" y="0"/>
                    <a:pt x="487553" y="0"/>
                  </a:cubicBezTo>
                  <a:lnTo>
                    <a:pt x="6374638" y="0"/>
                  </a:lnTo>
                  <a:cubicBezTo>
                    <a:pt x="6643878" y="0"/>
                    <a:pt x="6862191" y="218313"/>
                    <a:pt x="6862191" y="487553"/>
                  </a:cubicBezTo>
                  <a:lnTo>
                    <a:pt x="6862191" y="2437511"/>
                  </a:lnTo>
                  <a:cubicBezTo>
                    <a:pt x="6862191" y="2706751"/>
                    <a:pt x="6643878" y="2925064"/>
                    <a:pt x="6374638" y="2925064"/>
                  </a:cubicBezTo>
                  <a:lnTo>
                    <a:pt x="487553" y="2925064"/>
                  </a:lnTo>
                  <a:cubicBezTo>
                    <a:pt x="218313" y="2924937"/>
                    <a:pt x="0" y="2706751"/>
                    <a:pt x="0" y="2437511"/>
                  </a:cubicBezTo>
                  <a:close/>
                </a:path>
              </a:pathLst>
            </a:custGeom>
            <a:solidFill>
              <a:srgbClr val="EEECE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839" y="0"/>
            <a:ext cx="4636160" cy="1767821"/>
            <a:chOff x="0" y="0"/>
            <a:chExt cx="6181547" cy="2357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81598" cy="2357120"/>
            </a:xfrm>
            <a:custGeom>
              <a:avLst/>
              <a:gdLst/>
              <a:ahLst/>
              <a:cxnLst/>
              <a:rect l="l" t="t" r="r" b="b"/>
              <a:pathLst>
                <a:path w="6181598" h="2357120">
                  <a:moveTo>
                    <a:pt x="0" y="0"/>
                  </a:moveTo>
                  <a:lnTo>
                    <a:pt x="6181598" y="0"/>
                  </a:lnTo>
                  <a:lnTo>
                    <a:pt x="6181598" y="2357120"/>
                  </a:lnTo>
                  <a:lnTo>
                    <a:pt x="0" y="2357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3873494"/>
            <a:ext cx="3086100" cy="4325064"/>
            <a:chOff x="0" y="0"/>
            <a:chExt cx="4114800" cy="576675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4114800" cy="5766689"/>
            </a:xfrm>
            <a:custGeom>
              <a:avLst/>
              <a:gdLst/>
              <a:ahLst/>
              <a:cxnLst/>
              <a:rect l="l" t="t" r="r" b="b"/>
              <a:pathLst>
                <a:path w="4114800" h="5766689">
                  <a:moveTo>
                    <a:pt x="0" y="0"/>
                  </a:moveTo>
                  <a:lnTo>
                    <a:pt x="4114800" y="0"/>
                  </a:lnTo>
                  <a:lnTo>
                    <a:pt x="4114800" y="5766689"/>
                  </a:lnTo>
                  <a:lnTo>
                    <a:pt x="0" y="5766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1615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229100" y="3873494"/>
            <a:ext cx="3086100" cy="4325064"/>
            <a:chOff x="0" y="0"/>
            <a:chExt cx="4114800" cy="5766752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4114800" cy="5766689"/>
            </a:xfrm>
            <a:custGeom>
              <a:avLst/>
              <a:gdLst/>
              <a:ahLst/>
              <a:cxnLst/>
              <a:rect l="l" t="t" r="r" b="b"/>
              <a:pathLst>
                <a:path w="4114800" h="5766689">
                  <a:moveTo>
                    <a:pt x="0" y="0"/>
                  </a:moveTo>
                  <a:lnTo>
                    <a:pt x="4114800" y="0"/>
                  </a:lnTo>
                  <a:lnTo>
                    <a:pt x="4114800" y="5766689"/>
                  </a:lnTo>
                  <a:lnTo>
                    <a:pt x="0" y="5766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1615" b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600950" y="3873494"/>
            <a:ext cx="3086100" cy="4325064"/>
            <a:chOff x="0" y="0"/>
            <a:chExt cx="4114800" cy="5766752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4114800" cy="5766689"/>
            </a:xfrm>
            <a:custGeom>
              <a:avLst/>
              <a:gdLst/>
              <a:ahLst/>
              <a:cxnLst/>
              <a:rect l="l" t="t" r="r" b="b"/>
              <a:pathLst>
                <a:path w="4114800" h="5766689">
                  <a:moveTo>
                    <a:pt x="0" y="0"/>
                  </a:moveTo>
                  <a:lnTo>
                    <a:pt x="4114800" y="0"/>
                  </a:lnTo>
                  <a:lnTo>
                    <a:pt x="4114800" y="5766689"/>
                  </a:lnTo>
                  <a:lnTo>
                    <a:pt x="0" y="5766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1615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972800" y="3873494"/>
            <a:ext cx="3086100" cy="4325064"/>
            <a:chOff x="0" y="0"/>
            <a:chExt cx="4114800" cy="5766752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4114800" cy="5766689"/>
            </a:xfrm>
            <a:custGeom>
              <a:avLst/>
              <a:gdLst/>
              <a:ahLst/>
              <a:cxnLst/>
              <a:rect l="l" t="t" r="r" b="b"/>
              <a:pathLst>
                <a:path w="4114800" h="5766689">
                  <a:moveTo>
                    <a:pt x="0" y="0"/>
                  </a:moveTo>
                  <a:lnTo>
                    <a:pt x="4114800" y="0"/>
                  </a:lnTo>
                  <a:lnTo>
                    <a:pt x="4114800" y="5766689"/>
                  </a:lnTo>
                  <a:lnTo>
                    <a:pt x="0" y="5766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1615" b="-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4344650" y="3873494"/>
            <a:ext cx="3086100" cy="4325064"/>
            <a:chOff x="0" y="0"/>
            <a:chExt cx="4114800" cy="5766752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4114800" cy="5766689"/>
            </a:xfrm>
            <a:custGeom>
              <a:avLst/>
              <a:gdLst/>
              <a:ahLst/>
              <a:cxnLst/>
              <a:rect l="l" t="t" r="r" b="b"/>
              <a:pathLst>
                <a:path w="4114800" h="5766689">
                  <a:moveTo>
                    <a:pt x="0" y="0"/>
                  </a:moveTo>
                  <a:lnTo>
                    <a:pt x="4114800" y="0"/>
                  </a:lnTo>
                  <a:lnTo>
                    <a:pt x="4114800" y="5766689"/>
                  </a:lnTo>
                  <a:lnTo>
                    <a:pt x="0" y="5766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1615" b="-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114550" y="4359250"/>
            <a:ext cx="571500" cy="571500"/>
            <a:chOff x="0" y="0"/>
            <a:chExt cx="762000" cy="7620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250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5557838" y="4359250"/>
            <a:ext cx="428625" cy="571500"/>
            <a:chOff x="0" y="0"/>
            <a:chExt cx="571500" cy="7620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0" y="0"/>
                  </a:moveTo>
                  <a:lnTo>
                    <a:pt x="571500" y="0"/>
                  </a:lnTo>
                  <a:lnTo>
                    <a:pt x="571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250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822531" y="4359250"/>
            <a:ext cx="642938" cy="571500"/>
            <a:chOff x="0" y="0"/>
            <a:chExt cx="857250" cy="7620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857250" cy="762000"/>
            </a:xfrm>
            <a:custGeom>
              <a:avLst/>
              <a:gdLst/>
              <a:ahLst/>
              <a:cxnLst/>
              <a:rect l="l" t="t" r="r" b="b"/>
              <a:pathLst>
                <a:path w="857250" h="762000">
                  <a:moveTo>
                    <a:pt x="0" y="0"/>
                  </a:moveTo>
                  <a:lnTo>
                    <a:pt x="857250" y="0"/>
                  </a:lnTo>
                  <a:lnTo>
                    <a:pt x="857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271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2194381" y="4359250"/>
            <a:ext cx="642938" cy="571500"/>
            <a:chOff x="0" y="0"/>
            <a:chExt cx="857250" cy="7620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857250" cy="762000"/>
            </a:xfrm>
            <a:custGeom>
              <a:avLst/>
              <a:gdLst/>
              <a:ahLst/>
              <a:cxnLst/>
              <a:rect l="l" t="t" r="r" b="b"/>
              <a:pathLst>
                <a:path w="857250" h="762000">
                  <a:moveTo>
                    <a:pt x="0" y="0"/>
                  </a:moveTo>
                  <a:lnTo>
                    <a:pt x="857250" y="0"/>
                  </a:lnTo>
                  <a:lnTo>
                    <a:pt x="857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27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5637669" y="4359250"/>
            <a:ext cx="500062" cy="571500"/>
            <a:chOff x="0" y="0"/>
            <a:chExt cx="666750" cy="7620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348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143000" y="857250"/>
            <a:ext cx="17102252" cy="69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NỘI DUNG TRÌNH BÀY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57250" y="857250"/>
            <a:ext cx="114300" cy="742950"/>
            <a:chOff x="0" y="0"/>
            <a:chExt cx="152400" cy="990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170146" y="5245075"/>
            <a:ext cx="2460146" cy="39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0146" y="5802287"/>
            <a:ext cx="2460146" cy="39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Vấn đề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8725" y="6599501"/>
            <a:ext cx="2343150" cy="105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7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Thực trạng và</a:t>
            </a:r>
          </a:p>
          <a:p>
            <a:pPr algn="ctr">
              <a:lnSpc>
                <a:spcPts val="4317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thách thức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41996" y="5245075"/>
            <a:ext cx="2460146" cy="39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41996" y="5802287"/>
            <a:ext cx="2460146" cy="39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00575" y="6599501"/>
            <a:ext cx="2343150" cy="105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7"/>
              </a:lnSpc>
            </a:pPr>
            <a:r>
              <a:rPr lang="vi-VN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Hướng tiếp cận</a:t>
            </a:r>
          </a:p>
          <a:p>
            <a:pPr algn="ctr">
              <a:lnSpc>
                <a:spcPts val="4317"/>
              </a:lnSpc>
            </a:pPr>
            <a:r>
              <a:rPr lang="vi-VN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đề xuất</a:t>
            </a:r>
            <a:endParaRPr lang="en-US" sz="2250">
              <a:solidFill>
                <a:srgbClr val="3341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913846" y="5245075"/>
            <a:ext cx="2460146" cy="39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13846" y="5802287"/>
            <a:ext cx="2460146" cy="78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Tổng quan</a:t>
            </a: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hệ thống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72425" y="6599501"/>
            <a:ext cx="2343150" cy="1039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7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Phân tích và</a:t>
            </a:r>
          </a:p>
          <a:p>
            <a:pPr algn="ctr">
              <a:lnSpc>
                <a:spcPts val="4317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thiết kế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85696" y="5245075"/>
            <a:ext cx="2460146" cy="39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85696" y="5802287"/>
            <a:ext cx="2460146" cy="37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Triển khai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44275" y="6599501"/>
            <a:ext cx="2343150" cy="105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7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Chức năng và</a:t>
            </a:r>
          </a:p>
          <a:p>
            <a:pPr algn="ctr">
              <a:lnSpc>
                <a:spcPts val="4317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công nghệ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657546" y="5245075"/>
            <a:ext cx="2460146" cy="39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942560" y="5802287"/>
            <a:ext cx="1890117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Kết quả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716125" y="6599501"/>
            <a:ext cx="2343150" cy="105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7"/>
              </a:lnSpc>
            </a:pPr>
            <a:r>
              <a:rPr lang="vi-VN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Tiến độ và</a:t>
            </a:r>
          </a:p>
          <a:p>
            <a:pPr algn="ctr">
              <a:lnSpc>
                <a:spcPts val="4317"/>
              </a:lnSpc>
            </a:pPr>
            <a:r>
              <a:rPr lang="vi-VN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định hướng</a:t>
            </a:r>
            <a:endParaRPr lang="en-US" sz="2250">
              <a:solidFill>
                <a:srgbClr val="3341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1550860"/>
            <a:ext cx="7429500" cy="385762"/>
            <a:chOff x="0" y="0"/>
            <a:chExt cx="9906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9906000" cy="514350"/>
            </a:xfrm>
            <a:custGeom>
              <a:avLst/>
              <a:gdLst/>
              <a:ahLst/>
              <a:cxnLst/>
              <a:rect l="l" t="t" r="r" b="b"/>
              <a:pathLst>
                <a:path w="9906000" h="514350">
                  <a:moveTo>
                    <a:pt x="0" y="0"/>
                  </a:moveTo>
                  <a:lnTo>
                    <a:pt x="9906000" y="0"/>
                  </a:lnTo>
                  <a:lnTo>
                    <a:pt x="9906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703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57250" y="2089023"/>
            <a:ext cx="14859595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THÁCH THỨC CỦA KIỂM TRA TRỰC TUYẾN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19050"/>
            <a:ext cx="3086100" cy="1176795"/>
            <a:chOff x="0" y="0"/>
            <a:chExt cx="4114800" cy="15690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429750" y="2807494"/>
            <a:ext cx="7929562" cy="5114925"/>
            <a:chOff x="0" y="0"/>
            <a:chExt cx="10572750" cy="6819900"/>
          </a:xfrm>
        </p:grpSpPr>
        <p:sp>
          <p:nvSpPr>
            <p:cNvPr id="10" name="Freeform 10" descr="image.png"/>
            <p:cNvSpPr/>
            <p:nvPr/>
          </p:nvSpPr>
          <p:spPr>
            <a:xfrm>
              <a:off x="0" y="0"/>
              <a:ext cx="10572750" cy="6819900"/>
            </a:xfrm>
            <a:custGeom>
              <a:avLst/>
              <a:gdLst/>
              <a:ahLst/>
              <a:cxnLst/>
              <a:rect l="l" t="t" r="r" b="b"/>
              <a:pathLst>
                <a:path w="10572750" h="6819900">
                  <a:moveTo>
                    <a:pt x="0" y="0"/>
                  </a:moveTo>
                  <a:lnTo>
                    <a:pt x="10572750" y="0"/>
                  </a:lnTo>
                  <a:lnTo>
                    <a:pt x="10572750" y="6819900"/>
                  </a:lnTo>
                  <a:lnTo>
                    <a:pt x="0" y="681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28" b="-32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57250" y="3079623"/>
            <a:ext cx="7643812" cy="1557338"/>
            <a:chOff x="0" y="0"/>
            <a:chExt cx="10191750" cy="20764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91750" cy="2076450"/>
            </a:xfrm>
            <a:custGeom>
              <a:avLst/>
              <a:gdLst/>
              <a:ahLst/>
              <a:cxnLst/>
              <a:rect l="l" t="t" r="r" b="b"/>
              <a:pathLst>
                <a:path w="10191750" h="2076450">
                  <a:moveTo>
                    <a:pt x="0" y="0"/>
                  </a:moveTo>
                  <a:lnTo>
                    <a:pt x="10191750" y="0"/>
                  </a:lnTo>
                  <a:lnTo>
                    <a:pt x="101917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857250" y="4865560"/>
            <a:ext cx="7643812" cy="1557338"/>
            <a:chOff x="0" y="0"/>
            <a:chExt cx="10191750" cy="20764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91750" cy="2076450"/>
            </a:xfrm>
            <a:custGeom>
              <a:avLst/>
              <a:gdLst/>
              <a:ahLst/>
              <a:cxnLst/>
              <a:rect l="l" t="t" r="r" b="b"/>
              <a:pathLst>
                <a:path w="10191750" h="2076450">
                  <a:moveTo>
                    <a:pt x="0" y="0"/>
                  </a:moveTo>
                  <a:lnTo>
                    <a:pt x="10191750" y="0"/>
                  </a:lnTo>
                  <a:lnTo>
                    <a:pt x="101917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57250" y="6651498"/>
            <a:ext cx="7643812" cy="1557338"/>
            <a:chOff x="0" y="0"/>
            <a:chExt cx="10191750" cy="20764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91750" cy="2076450"/>
            </a:xfrm>
            <a:custGeom>
              <a:avLst/>
              <a:gdLst/>
              <a:ahLst/>
              <a:cxnLst/>
              <a:rect l="l" t="t" r="r" b="b"/>
              <a:pathLst>
                <a:path w="10191750" h="2076450">
                  <a:moveTo>
                    <a:pt x="0" y="0"/>
                  </a:moveTo>
                  <a:lnTo>
                    <a:pt x="10191750" y="0"/>
                  </a:lnTo>
                  <a:lnTo>
                    <a:pt x="101917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57250" y="4622673"/>
            <a:ext cx="7643812" cy="14288"/>
            <a:chOff x="0" y="0"/>
            <a:chExt cx="10191750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91750" cy="19050"/>
            </a:xfrm>
            <a:custGeom>
              <a:avLst/>
              <a:gdLst/>
              <a:ahLst/>
              <a:cxnLst/>
              <a:rect l="l" t="t" r="r" b="b"/>
              <a:pathLst>
                <a:path w="10191750" h="19050">
                  <a:moveTo>
                    <a:pt x="0" y="0"/>
                  </a:moveTo>
                  <a:lnTo>
                    <a:pt x="10191750" y="0"/>
                  </a:lnTo>
                  <a:lnTo>
                    <a:pt x="10191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57250" y="3079623"/>
            <a:ext cx="7643812" cy="14288"/>
            <a:chOff x="0" y="0"/>
            <a:chExt cx="10191750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91750" cy="19050"/>
            </a:xfrm>
            <a:custGeom>
              <a:avLst/>
              <a:gdLst/>
              <a:ahLst/>
              <a:cxnLst/>
              <a:rect l="l" t="t" r="r" b="b"/>
              <a:pathLst>
                <a:path w="10191750" h="19050">
                  <a:moveTo>
                    <a:pt x="0" y="0"/>
                  </a:moveTo>
                  <a:lnTo>
                    <a:pt x="10191750" y="0"/>
                  </a:lnTo>
                  <a:lnTo>
                    <a:pt x="10191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57250" y="3079623"/>
            <a:ext cx="57150" cy="1557338"/>
            <a:chOff x="0" y="0"/>
            <a:chExt cx="76200" cy="20764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6200" cy="2076450"/>
            </a:xfrm>
            <a:custGeom>
              <a:avLst/>
              <a:gdLst/>
              <a:ahLst/>
              <a:cxnLst/>
              <a:rect l="l" t="t" r="r" b="b"/>
              <a:pathLst>
                <a:path w="76200" h="2076450">
                  <a:moveTo>
                    <a:pt x="0" y="0"/>
                  </a:moveTo>
                  <a:lnTo>
                    <a:pt x="76200" y="0"/>
                  </a:lnTo>
                  <a:lnTo>
                    <a:pt x="762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486775" y="3079623"/>
            <a:ext cx="14288" cy="1557338"/>
            <a:chOff x="0" y="0"/>
            <a:chExt cx="19050" cy="20764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050" cy="2076450"/>
            </a:xfrm>
            <a:custGeom>
              <a:avLst/>
              <a:gdLst/>
              <a:ahLst/>
              <a:cxnLst/>
              <a:rect l="l" t="t" r="r" b="b"/>
              <a:pathLst>
                <a:path w="19050" h="2076450">
                  <a:moveTo>
                    <a:pt x="0" y="0"/>
                  </a:moveTo>
                  <a:lnTo>
                    <a:pt x="19050" y="0"/>
                  </a:lnTo>
                  <a:lnTo>
                    <a:pt x="190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857250" y="6408610"/>
            <a:ext cx="7643812" cy="14288"/>
            <a:chOff x="0" y="0"/>
            <a:chExt cx="10191750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91750" cy="19050"/>
            </a:xfrm>
            <a:custGeom>
              <a:avLst/>
              <a:gdLst/>
              <a:ahLst/>
              <a:cxnLst/>
              <a:rect l="l" t="t" r="r" b="b"/>
              <a:pathLst>
                <a:path w="10191750" h="19050">
                  <a:moveTo>
                    <a:pt x="0" y="0"/>
                  </a:moveTo>
                  <a:lnTo>
                    <a:pt x="10191750" y="0"/>
                  </a:lnTo>
                  <a:lnTo>
                    <a:pt x="10191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857250" y="4865560"/>
            <a:ext cx="7643812" cy="14288"/>
            <a:chOff x="0" y="0"/>
            <a:chExt cx="10191750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91750" cy="19050"/>
            </a:xfrm>
            <a:custGeom>
              <a:avLst/>
              <a:gdLst/>
              <a:ahLst/>
              <a:cxnLst/>
              <a:rect l="l" t="t" r="r" b="b"/>
              <a:pathLst>
                <a:path w="10191750" h="19050">
                  <a:moveTo>
                    <a:pt x="0" y="0"/>
                  </a:moveTo>
                  <a:lnTo>
                    <a:pt x="10191750" y="0"/>
                  </a:lnTo>
                  <a:lnTo>
                    <a:pt x="10191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57250" y="4865560"/>
            <a:ext cx="57150" cy="1557338"/>
            <a:chOff x="0" y="0"/>
            <a:chExt cx="76200" cy="20764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200" cy="2076450"/>
            </a:xfrm>
            <a:custGeom>
              <a:avLst/>
              <a:gdLst/>
              <a:ahLst/>
              <a:cxnLst/>
              <a:rect l="l" t="t" r="r" b="b"/>
              <a:pathLst>
                <a:path w="76200" h="2076450">
                  <a:moveTo>
                    <a:pt x="0" y="0"/>
                  </a:moveTo>
                  <a:lnTo>
                    <a:pt x="76200" y="0"/>
                  </a:lnTo>
                  <a:lnTo>
                    <a:pt x="762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8486775" y="4865560"/>
            <a:ext cx="14288" cy="1557338"/>
            <a:chOff x="0" y="0"/>
            <a:chExt cx="19050" cy="20764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050" cy="2076450"/>
            </a:xfrm>
            <a:custGeom>
              <a:avLst/>
              <a:gdLst/>
              <a:ahLst/>
              <a:cxnLst/>
              <a:rect l="l" t="t" r="r" b="b"/>
              <a:pathLst>
                <a:path w="19050" h="2076450">
                  <a:moveTo>
                    <a:pt x="0" y="0"/>
                  </a:moveTo>
                  <a:lnTo>
                    <a:pt x="19050" y="0"/>
                  </a:lnTo>
                  <a:lnTo>
                    <a:pt x="190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857250" y="8194548"/>
            <a:ext cx="7643812" cy="14288"/>
            <a:chOff x="0" y="0"/>
            <a:chExt cx="10191750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91750" cy="19050"/>
            </a:xfrm>
            <a:custGeom>
              <a:avLst/>
              <a:gdLst/>
              <a:ahLst/>
              <a:cxnLst/>
              <a:rect l="l" t="t" r="r" b="b"/>
              <a:pathLst>
                <a:path w="10191750" h="19050">
                  <a:moveTo>
                    <a:pt x="0" y="0"/>
                  </a:moveTo>
                  <a:lnTo>
                    <a:pt x="10191750" y="0"/>
                  </a:lnTo>
                  <a:lnTo>
                    <a:pt x="10191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57250" y="6651498"/>
            <a:ext cx="7643812" cy="14288"/>
            <a:chOff x="0" y="0"/>
            <a:chExt cx="10191750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91750" cy="19050"/>
            </a:xfrm>
            <a:custGeom>
              <a:avLst/>
              <a:gdLst/>
              <a:ahLst/>
              <a:cxnLst/>
              <a:rect l="l" t="t" r="r" b="b"/>
              <a:pathLst>
                <a:path w="10191750" h="19050">
                  <a:moveTo>
                    <a:pt x="0" y="0"/>
                  </a:moveTo>
                  <a:lnTo>
                    <a:pt x="10191750" y="0"/>
                  </a:lnTo>
                  <a:lnTo>
                    <a:pt x="10191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857250" y="6651498"/>
            <a:ext cx="57150" cy="1557338"/>
            <a:chOff x="0" y="0"/>
            <a:chExt cx="76200" cy="20764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6200" cy="2076450"/>
            </a:xfrm>
            <a:custGeom>
              <a:avLst/>
              <a:gdLst/>
              <a:ahLst/>
              <a:cxnLst/>
              <a:rect l="l" t="t" r="r" b="b"/>
              <a:pathLst>
                <a:path w="76200" h="2076450">
                  <a:moveTo>
                    <a:pt x="0" y="0"/>
                  </a:moveTo>
                  <a:lnTo>
                    <a:pt x="76200" y="0"/>
                  </a:lnTo>
                  <a:lnTo>
                    <a:pt x="762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8486775" y="6651498"/>
            <a:ext cx="14288" cy="1557338"/>
            <a:chOff x="0" y="0"/>
            <a:chExt cx="19050" cy="20764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050" cy="2076450"/>
            </a:xfrm>
            <a:custGeom>
              <a:avLst/>
              <a:gdLst/>
              <a:ahLst/>
              <a:cxnLst/>
              <a:rect l="l" t="t" r="r" b="b"/>
              <a:pathLst>
                <a:path w="19050" h="2076450">
                  <a:moveTo>
                    <a:pt x="0" y="0"/>
                  </a:moveTo>
                  <a:lnTo>
                    <a:pt x="19050" y="0"/>
                  </a:lnTo>
                  <a:lnTo>
                    <a:pt x="190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00150" y="3436810"/>
            <a:ext cx="228600" cy="257175"/>
            <a:chOff x="0" y="0"/>
            <a:chExt cx="304800" cy="342900"/>
          </a:xfrm>
        </p:grpSpPr>
        <p:sp>
          <p:nvSpPr>
            <p:cNvPr id="42" name="Freeform 42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200150" y="5222748"/>
            <a:ext cx="257175" cy="257175"/>
            <a:chOff x="0" y="0"/>
            <a:chExt cx="342900" cy="342900"/>
          </a:xfrm>
        </p:grpSpPr>
        <p:sp>
          <p:nvSpPr>
            <p:cNvPr id="44" name="Freeform 44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200150" y="7008686"/>
            <a:ext cx="328612" cy="257175"/>
            <a:chOff x="0" y="0"/>
            <a:chExt cx="438150" cy="342900"/>
          </a:xfrm>
        </p:grpSpPr>
        <p:sp>
          <p:nvSpPr>
            <p:cNvPr id="46" name="Freeform 46" descr="image.png"/>
            <p:cNvSpPr/>
            <p:nvPr/>
          </p:nvSpPr>
          <p:spPr>
            <a:xfrm>
              <a:off x="0" y="0"/>
              <a:ext cx="438150" cy="342900"/>
            </a:xfrm>
            <a:custGeom>
              <a:avLst/>
              <a:gdLst/>
              <a:ahLst/>
              <a:cxnLst/>
              <a:rect l="l" t="t" r="r" b="b"/>
              <a:pathLst>
                <a:path w="438150" h="34290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47" name="TextBox 47"/>
          <p:cNvSpPr txBox="1"/>
          <p:nvPr/>
        </p:nvSpPr>
        <p:spPr>
          <a:xfrm>
            <a:off x="1428750" y="3370135"/>
            <a:ext cx="361563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vi-VN" sz="2025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Nguy cơ gian lận khó kiểm soát</a:t>
            </a:r>
            <a:endParaRPr lang="en-US" sz="2025" b="1">
              <a:solidFill>
                <a:srgbClr val="0F172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200150" y="3774948"/>
            <a:ext cx="714375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Thí sinh có thể chuyển tab, sử dụng thiết bị thứ hai hoặc rời khỏi vùng quan sát của camera.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47800" y="5156073"/>
            <a:ext cx="4443561" cy="28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95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Tốn thời gian xây dựng và chấm bài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00150" y="5560885"/>
            <a:ext cx="714375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2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Giảng viên phải chuẩn bị ngân hàng câu hỏi, tổ chức thi và đánh giá bài lập trình theo cách thủ công.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95425" y="6942011"/>
            <a:ext cx="3029843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Thiếu giám sát và can thiệp tức thời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00150" y="7346823"/>
            <a:ext cx="714375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vi-VN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Nhiều nền tảng chỉ lưu nhật ký sau kỳ thi, chưa hỗ trợ cảnh báo và xử lý vi phạm ngay trong ca thi.</a:t>
            </a:r>
            <a:endParaRPr lang="en-US" sz="1687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028536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 GIẢI PHÁP TRỌNG TÂM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07256" y="3475434"/>
            <a:ext cx="5272088" cy="3779044"/>
            <a:chOff x="0" y="0"/>
            <a:chExt cx="7029450" cy="50387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29450" cy="5038725"/>
            </a:xfrm>
            <a:custGeom>
              <a:avLst/>
              <a:gdLst/>
              <a:ahLst/>
              <a:cxnLst/>
              <a:rect l="l" t="t" r="r" b="b"/>
              <a:pathLst>
                <a:path w="7029450" h="5038725">
                  <a:moveTo>
                    <a:pt x="0" y="305943"/>
                  </a:moveTo>
                  <a:cubicBezTo>
                    <a:pt x="0" y="137033"/>
                    <a:pt x="137033" y="0"/>
                    <a:pt x="305943" y="0"/>
                  </a:cubicBezTo>
                  <a:lnTo>
                    <a:pt x="6723507" y="0"/>
                  </a:lnTo>
                  <a:cubicBezTo>
                    <a:pt x="6892417" y="0"/>
                    <a:pt x="7029450" y="137033"/>
                    <a:pt x="7029450" y="305943"/>
                  </a:cubicBezTo>
                  <a:lnTo>
                    <a:pt x="7029450" y="4732782"/>
                  </a:lnTo>
                  <a:cubicBezTo>
                    <a:pt x="7029450" y="4901692"/>
                    <a:pt x="6892417" y="5038725"/>
                    <a:pt x="6723507" y="5038725"/>
                  </a:cubicBezTo>
                  <a:lnTo>
                    <a:pt x="305943" y="5038725"/>
                  </a:lnTo>
                  <a:cubicBezTo>
                    <a:pt x="137033" y="5038725"/>
                    <a:pt x="0" y="4901692"/>
                    <a:pt x="0" y="4732782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507956" y="3475434"/>
            <a:ext cx="5272088" cy="3779044"/>
            <a:chOff x="0" y="0"/>
            <a:chExt cx="7029450" cy="50387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29450" cy="5038725"/>
            </a:xfrm>
            <a:custGeom>
              <a:avLst/>
              <a:gdLst/>
              <a:ahLst/>
              <a:cxnLst/>
              <a:rect l="l" t="t" r="r" b="b"/>
              <a:pathLst>
                <a:path w="7029450" h="5038725">
                  <a:moveTo>
                    <a:pt x="0" y="305943"/>
                  </a:moveTo>
                  <a:cubicBezTo>
                    <a:pt x="0" y="137033"/>
                    <a:pt x="137033" y="0"/>
                    <a:pt x="305943" y="0"/>
                  </a:cubicBezTo>
                  <a:lnTo>
                    <a:pt x="6723507" y="0"/>
                  </a:lnTo>
                  <a:cubicBezTo>
                    <a:pt x="6892417" y="0"/>
                    <a:pt x="7029450" y="137033"/>
                    <a:pt x="7029450" y="305943"/>
                  </a:cubicBezTo>
                  <a:lnTo>
                    <a:pt x="7029450" y="4732782"/>
                  </a:lnTo>
                  <a:cubicBezTo>
                    <a:pt x="7029450" y="4901692"/>
                    <a:pt x="6892417" y="5038725"/>
                    <a:pt x="6723507" y="5038725"/>
                  </a:cubicBezTo>
                  <a:lnTo>
                    <a:pt x="305943" y="5038725"/>
                  </a:lnTo>
                  <a:cubicBezTo>
                    <a:pt x="137033" y="5038725"/>
                    <a:pt x="0" y="4901692"/>
                    <a:pt x="0" y="4732782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108656" y="3475434"/>
            <a:ext cx="5272088" cy="3779044"/>
            <a:chOff x="0" y="0"/>
            <a:chExt cx="7029450" cy="50387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29450" cy="5038725"/>
            </a:xfrm>
            <a:custGeom>
              <a:avLst/>
              <a:gdLst/>
              <a:ahLst/>
              <a:cxnLst/>
              <a:rect l="l" t="t" r="r" b="b"/>
              <a:pathLst>
                <a:path w="7029450" h="5038725">
                  <a:moveTo>
                    <a:pt x="0" y="305943"/>
                  </a:moveTo>
                  <a:cubicBezTo>
                    <a:pt x="0" y="137033"/>
                    <a:pt x="137033" y="0"/>
                    <a:pt x="305943" y="0"/>
                  </a:cubicBezTo>
                  <a:lnTo>
                    <a:pt x="6723507" y="0"/>
                  </a:lnTo>
                  <a:cubicBezTo>
                    <a:pt x="6892417" y="0"/>
                    <a:pt x="7029450" y="137033"/>
                    <a:pt x="7029450" y="305943"/>
                  </a:cubicBezTo>
                  <a:lnTo>
                    <a:pt x="7029450" y="4732782"/>
                  </a:lnTo>
                  <a:cubicBezTo>
                    <a:pt x="7029450" y="4901692"/>
                    <a:pt x="6892417" y="5038725"/>
                    <a:pt x="6723507" y="5038725"/>
                  </a:cubicBezTo>
                  <a:lnTo>
                    <a:pt x="305943" y="5038725"/>
                  </a:lnTo>
                  <a:cubicBezTo>
                    <a:pt x="137033" y="5038725"/>
                    <a:pt x="0" y="4901692"/>
                    <a:pt x="0" y="4732782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85888" y="3954066"/>
            <a:ext cx="685800" cy="685800"/>
            <a:chOff x="0" y="0"/>
            <a:chExt cx="914400" cy="9144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41" b="-104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6986588" y="3954066"/>
            <a:ext cx="685800" cy="685800"/>
            <a:chOff x="0" y="0"/>
            <a:chExt cx="914400" cy="9144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2587288" y="3954066"/>
            <a:ext cx="685800" cy="685800"/>
            <a:chOff x="0" y="0"/>
            <a:chExt cx="914400" cy="9144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585912" y="4154091"/>
            <a:ext cx="285750" cy="285750"/>
            <a:chOff x="0" y="0"/>
            <a:chExt cx="381000" cy="3810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500" b="-250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186612" y="4154091"/>
            <a:ext cx="285750" cy="285750"/>
            <a:chOff x="0" y="0"/>
            <a:chExt cx="381000" cy="3810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2751594" y="4154091"/>
            <a:ext cx="357188" cy="285750"/>
            <a:chOff x="0" y="0"/>
            <a:chExt cx="476250" cy="3810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479" b="-480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385888" y="4906566"/>
            <a:ext cx="4680585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AI hỗ trợ sinh câu hỏi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5888" y="5744766"/>
            <a:ext cx="4457700" cy="93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vi-VN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Google Gemini phân tích tài liệu PDF hoặc Word và tạo câu hỏi nháp theo loại, số lượng và độ khó.</a:t>
            </a:r>
            <a:endParaRPr lang="en-US" sz="1687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986588" y="4906566"/>
            <a:ext cx="5663203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Giám sát thời gian thực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86588" y="5387578"/>
            <a:ext cx="4457700" cy="93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Socket.IO, WebRTC và MediaPipe hỗ trợ theo dõi webcam, màn hình và các sự kiện trình duyệt.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87288" y="4906566"/>
            <a:ext cx="4680585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Chấm bài lập trình tự động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87288" y="5744766"/>
            <a:ext cx="4457700" cy="61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Judge0 biên dịch và chạy mã nguồn theo test case với giới hạn thời gian và bộ nhớ.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187678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VAI TRÒ VÀ PHẠM VI CHỨC NĂNG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07256" y="3629025"/>
            <a:ext cx="5272088" cy="3471862"/>
            <a:chOff x="0" y="0"/>
            <a:chExt cx="7029450" cy="4629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29450" cy="4629150"/>
            </a:xfrm>
            <a:custGeom>
              <a:avLst/>
              <a:gdLst/>
              <a:ahLst/>
              <a:cxnLst/>
              <a:rect l="l" t="t" r="r" b="b"/>
              <a:pathLst>
                <a:path w="7029450" h="4629150">
                  <a:moveTo>
                    <a:pt x="0" y="229489"/>
                  </a:moveTo>
                  <a:cubicBezTo>
                    <a:pt x="0" y="102743"/>
                    <a:pt x="102743" y="0"/>
                    <a:pt x="229489" y="0"/>
                  </a:cubicBezTo>
                  <a:lnTo>
                    <a:pt x="6799961" y="0"/>
                  </a:lnTo>
                  <a:cubicBezTo>
                    <a:pt x="6926707" y="0"/>
                    <a:pt x="7029450" y="102743"/>
                    <a:pt x="7029450" y="229489"/>
                  </a:cubicBezTo>
                  <a:lnTo>
                    <a:pt x="7029450" y="4399661"/>
                  </a:lnTo>
                  <a:cubicBezTo>
                    <a:pt x="7029450" y="4526407"/>
                    <a:pt x="6926707" y="4629150"/>
                    <a:pt x="6799961" y="4629150"/>
                  </a:cubicBezTo>
                  <a:lnTo>
                    <a:pt x="229489" y="4629150"/>
                  </a:lnTo>
                  <a:cubicBezTo>
                    <a:pt x="102743" y="4629150"/>
                    <a:pt x="0" y="4526407"/>
                    <a:pt x="0" y="43996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507956" y="3629025"/>
            <a:ext cx="5272088" cy="3471862"/>
            <a:chOff x="0" y="0"/>
            <a:chExt cx="7029450" cy="46291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29450" cy="4629150"/>
            </a:xfrm>
            <a:custGeom>
              <a:avLst/>
              <a:gdLst/>
              <a:ahLst/>
              <a:cxnLst/>
              <a:rect l="l" t="t" r="r" b="b"/>
              <a:pathLst>
                <a:path w="7029450" h="4629150">
                  <a:moveTo>
                    <a:pt x="0" y="229489"/>
                  </a:moveTo>
                  <a:cubicBezTo>
                    <a:pt x="0" y="102743"/>
                    <a:pt x="102743" y="0"/>
                    <a:pt x="229489" y="0"/>
                  </a:cubicBezTo>
                  <a:lnTo>
                    <a:pt x="6799961" y="0"/>
                  </a:lnTo>
                  <a:cubicBezTo>
                    <a:pt x="6926707" y="0"/>
                    <a:pt x="7029450" y="102743"/>
                    <a:pt x="7029450" y="229489"/>
                  </a:cubicBezTo>
                  <a:lnTo>
                    <a:pt x="7029450" y="4399661"/>
                  </a:lnTo>
                  <a:cubicBezTo>
                    <a:pt x="7029450" y="4526407"/>
                    <a:pt x="6926707" y="4629150"/>
                    <a:pt x="6799961" y="4629150"/>
                  </a:cubicBezTo>
                  <a:lnTo>
                    <a:pt x="229489" y="4629150"/>
                  </a:lnTo>
                  <a:cubicBezTo>
                    <a:pt x="102743" y="4629150"/>
                    <a:pt x="0" y="4526407"/>
                    <a:pt x="0" y="43996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108656" y="3629025"/>
            <a:ext cx="5272088" cy="3471862"/>
            <a:chOff x="0" y="0"/>
            <a:chExt cx="7029450" cy="46291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29450" cy="4629150"/>
            </a:xfrm>
            <a:custGeom>
              <a:avLst/>
              <a:gdLst/>
              <a:ahLst/>
              <a:cxnLst/>
              <a:rect l="l" t="t" r="r" b="b"/>
              <a:pathLst>
                <a:path w="7029450" h="4629150">
                  <a:moveTo>
                    <a:pt x="0" y="229489"/>
                  </a:moveTo>
                  <a:cubicBezTo>
                    <a:pt x="0" y="102743"/>
                    <a:pt x="102743" y="0"/>
                    <a:pt x="229489" y="0"/>
                  </a:cubicBezTo>
                  <a:lnTo>
                    <a:pt x="6799961" y="0"/>
                  </a:lnTo>
                  <a:cubicBezTo>
                    <a:pt x="6926707" y="0"/>
                    <a:pt x="7029450" y="102743"/>
                    <a:pt x="7029450" y="229489"/>
                  </a:cubicBezTo>
                  <a:lnTo>
                    <a:pt x="7029450" y="4399661"/>
                  </a:lnTo>
                  <a:cubicBezTo>
                    <a:pt x="7029450" y="4526407"/>
                    <a:pt x="6926707" y="4629150"/>
                    <a:pt x="6799961" y="4629150"/>
                  </a:cubicBezTo>
                  <a:lnTo>
                    <a:pt x="229489" y="4629150"/>
                  </a:lnTo>
                  <a:cubicBezTo>
                    <a:pt x="102743" y="4629150"/>
                    <a:pt x="0" y="4526407"/>
                    <a:pt x="0" y="43996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28738" y="4050506"/>
            <a:ext cx="571500" cy="571500"/>
            <a:chOff x="0" y="0"/>
            <a:chExt cx="762000" cy="7620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50" b="-1250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6929438" y="4050506"/>
            <a:ext cx="571500" cy="571500"/>
            <a:chOff x="0" y="0"/>
            <a:chExt cx="762000" cy="7620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2530138" y="4050506"/>
            <a:ext cx="571500" cy="571500"/>
            <a:chOff x="0" y="0"/>
            <a:chExt cx="762000" cy="7620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450181" y="4207669"/>
            <a:ext cx="328612" cy="257175"/>
            <a:chOff x="0" y="0"/>
            <a:chExt cx="438150" cy="3429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438150" cy="342900"/>
            </a:xfrm>
            <a:custGeom>
              <a:avLst/>
              <a:gdLst/>
              <a:ahLst/>
              <a:cxnLst/>
              <a:rect l="l" t="t" r="r" b="b"/>
              <a:pathLst>
                <a:path w="438150" h="34290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577" b="-581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050881" y="4207669"/>
            <a:ext cx="328612" cy="257175"/>
            <a:chOff x="0" y="0"/>
            <a:chExt cx="438150" cy="3429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438150" cy="342900"/>
            </a:xfrm>
            <a:custGeom>
              <a:avLst/>
              <a:gdLst/>
              <a:ahLst/>
              <a:cxnLst/>
              <a:rect l="l" t="t" r="r" b="b"/>
              <a:pathLst>
                <a:path w="438150" h="34290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577" b="-581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2701588" y="4207669"/>
            <a:ext cx="228600" cy="257175"/>
            <a:chOff x="0" y="0"/>
            <a:chExt cx="304800" cy="3429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29" r="-329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328738" y="4886325"/>
            <a:ext cx="171450" cy="214312"/>
            <a:chOff x="0" y="0"/>
            <a:chExt cx="228600" cy="285750"/>
          </a:xfrm>
        </p:grpSpPr>
        <p:sp>
          <p:nvSpPr>
            <p:cNvPr id="30" name="Freeform 30" descr="image.png"/>
            <p:cNvSpPr/>
            <p:nvPr/>
          </p:nvSpPr>
          <p:spPr>
            <a:xfrm>
              <a:off x="0" y="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328738" y="5543550"/>
            <a:ext cx="171450" cy="214312"/>
            <a:chOff x="0" y="0"/>
            <a:chExt cx="228600" cy="28575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328738" y="6200775"/>
            <a:ext cx="171450" cy="214312"/>
            <a:chOff x="0" y="0"/>
            <a:chExt cx="228600" cy="285750"/>
          </a:xfrm>
        </p:grpSpPr>
        <p:sp>
          <p:nvSpPr>
            <p:cNvPr id="34" name="Freeform 34" descr="image.png"/>
            <p:cNvSpPr/>
            <p:nvPr/>
          </p:nvSpPr>
          <p:spPr>
            <a:xfrm>
              <a:off x="0" y="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6929438" y="4886325"/>
            <a:ext cx="171450" cy="214312"/>
            <a:chOff x="0" y="0"/>
            <a:chExt cx="228600" cy="28575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6929438" y="5543550"/>
            <a:ext cx="171450" cy="214312"/>
            <a:chOff x="0" y="0"/>
            <a:chExt cx="228600" cy="28575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6929438" y="6200775"/>
            <a:ext cx="171450" cy="214312"/>
            <a:chOff x="0" y="0"/>
            <a:chExt cx="228600" cy="28575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2530138" y="4886325"/>
            <a:ext cx="171450" cy="214312"/>
            <a:chOff x="0" y="0"/>
            <a:chExt cx="228600" cy="285750"/>
          </a:xfrm>
        </p:grpSpPr>
        <p:sp>
          <p:nvSpPr>
            <p:cNvPr id="42" name="Freeform 42" descr="image.png"/>
            <p:cNvSpPr/>
            <p:nvPr/>
          </p:nvSpPr>
          <p:spPr>
            <a:xfrm>
              <a:off x="0" y="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2530138" y="5543550"/>
            <a:ext cx="171450" cy="214312"/>
            <a:chOff x="0" y="0"/>
            <a:chExt cx="228600" cy="285750"/>
          </a:xfrm>
        </p:grpSpPr>
        <p:sp>
          <p:nvSpPr>
            <p:cNvPr id="44" name="Freeform 44" descr="image.png"/>
            <p:cNvSpPr/>
            <p:nvPr/>
          </p:nvSpPr>
          <p:spPr>
            <a:xfrm>
              <a:off x="0" y="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2530138" y="6200775"/>
            <a:ext cx="171450" cy="214312"/>
            <a:chOff x="0" y="0"/>
            <a:chExt cx="228600" cy="285750"/>
          </a:xfrm>
        </p:grpSpPr>
        <p:sp>
          <p:nvSpPr>
            <p:cNvPr id="46" name="Freeform 46" descr="image.png"/>
            <p:cNvSpPr/>
            <p:nvPr/>
          </p:nvSpPr>
          <p:spPr>
            <a:xfrm>
              <a:off x="0" y="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47" name="TextBox 47"/>
          <p:cNvSpPr txBox="1"/>
          <p:nvPr/>
        </p:nvSpPr>
        <p:spPr>
          <a:xfrm>
            <a:off x="2071688" y="4138612"/>
            <a:ext cx="2475309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Quản trị viên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19238" y="4841081"/>
            <a:ext cx="4381500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Quản lý học vụ: khoa, môn học, học kỳ và tài khoản.</a:t>
            </a:r>
            <a:endParaRPr lang="en-US" sz="1575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519238" y="5498306"/>
            <a:ext cx="43815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620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Điều phối kỳ thi: cấu hình hệ thống, lịch thi và nhật ký.</a:t>
            </a:r>
            <a:endParaRPr lang="en-US" sz="1620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519238" y="6155531"/>
            <a:ext cx="4381500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Giám sát vận hành: audit log và trạng thái hạ tầng.</a:t>
            </a:r>
            <a:endParaRPr lang="en-US" sz="1575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672388" y="4138612"/>
            <a:ext cx="166520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Giảng viên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119938" y="4841081"/>
            <a:ext cx="4381500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Ngân hàng câu hỏi: tạo, nhập và sinh câu hỏi bằng AI.</a:t>
            </a:r>
            <a:endParaRPr lang="en-US" sz="1575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119938" y="5498306"/>
            <a:ext cx="4381500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Đề thi và ca thi: cấu hình, phân công và tổ chức thi bù.</a:t>
            </a:r>
            <a:endParaRPr lang="en-US" sz="1575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7119938" y="6155531"/>
            <a:ext cx="4381500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Giám sát và chấm: theo dõi trực tiếp, xử lý phúc khảo.</a:t>
            </a:r>
            <a:endParaRPr lang="en-US" sz="1575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3273088" y="4138612"/>
            <a:ext cx="1620202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Sinh viên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720638" y="4841081"/>
            <a:ext cx="43815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Làm bài: trắc nghiệm, tự luận và lập trình.</a:t>
            </a:r>
            <a:endParaRPr lang="en-US" sz="1575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2720638" y="5498306"/>
            <a:ext cx="4381500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Kiểm tra thiết bị: webcam, màn hình và toàn màn hình.</a:t>
            </a:r>
            <a:endParaRPr lang="en-US" sz="1575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2720638" y="6155531"/>
            <a:ext cx="4381500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Kết quả: xem điểm, xem lại bài và gửi phúc khảo.</a:t>
            </a:r>
            <a:endParaRPr lang="en-US" sz="1575">
              <a:solidFill>
                <a:srgbClr val="334155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2589057"/>
            <a:ext cx="3929062" cy="2457450"/>
            <a:chOff x="0" y="0"/>
            <a:chExt cx="5238750" cy="32766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5238750" cy="3276600"/>
            </a:xfrm>
            <a:custGeom>
              <a:avLst/>
              <a:gdLst/>
              <a:ahLst/>
              <a:cxnLst/>
              <a:rect l="l" t="t" r="r" b="b"/>
              <a:pathLst>
                <a:path w="5238750" h="3276600">
                  <a:moveTo>
                    <a:pt x="0" y="0"/>
                  </a:moveTo>
                  <a:lnTo>
                    <a:pt x="5238750" y="0"/>
                  </a:lnTo>
                  <a:lnTo>
                    <a:pt x="523875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8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072062" y="2589057"/>
            <a:ext cx="3929062" cy="2457450"/>
            <a:chOff x="0" y="0"/>
            <a:chExt cx="5238750" cy="32766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238750" cy="3276600"/>
            </a:xfrm>
            <a:custGeom>
              <a:avLst/>
              <a:gdLst/>
              <a:ahLst/>
              <a:cxnLst/>
              <a:rect l="l" t="t" r="r" b="b"/>
              <a:pathLst>
                <a:path w="5238750" h="3276600">
                  <a:moveTo>
                    <a:pt x="0" y="0"/>
                  </a:moveTo>
                  <a:lnTo>
                    <a:pt x="5238750" y="0"/>
                  </a:lnTo>
                  <a:lnTo>
                    <a:pt x="523875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8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286875" y="2589057"/>
            <a:ext cx="3929062" cy="2457450"/>
            <a:chOff x="0" y="0"/>
            <a:chExt cx="5238750" cy="32766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238750" cy="3276600"/>
            </a:xfrm>
            <a:custGeom>
              <a:avLst/>
              <a:gdLst/>
              <a:ahLst/>
              <a:cxnLst/>
              <a:rect l="l" t="t" r="r" b="b"/>
              <a:pathLst>
                <a:path w="5238750" h="3276600">
                  <a:moveTo>
                    <a:pt x="0" y="0"/>
                  </a:moveTo>
                  <a:lnTo>
                    <a:pt x="5238750" y="0"/>
                  </a:lnTo>
                  <a:lnTo>
                    <a:pt x="523875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8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501688" y="2589057"/>
            <a:ext cx="3929062" cy="2457450"/>
            <a:chOff x="0" y="0"/>
            <a:chExt cx="5238750" cy="32766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238750" cy="3276600"/>
            </a:xfrm>
            <a:custGeom>
              <a:avLst/>
              <a:gdLst/>
              <a:ahLst/>
              <a:cxnLst/>
              <a:rect l="l" t="t" r="r" b="b"/>
              <a:pathLst>
                <a:path w="5238750" h="3276600">
                  <a:moveTo>
                    <a:pt x="0" y="0"/>
                  </a:moveTo>
                  <a:lnTo>
                    <a:pt x="5238750" y="0"/>
                  </a:lnTo>
                  <a:lnTo>
                    <a:pt x="523875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8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43000" y="2960532"/>
            <a:ext cx="200025" cy="257175"/>
            <a:chOff x="0" y="0"/>
            <a:chExt cx="266700" cy="3429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66700" cy="342900"/>
            </a:xfrm>
            <a:custGeom>
              <a:avLst/>
              <a:gdLst/>
              <a:ahLst/>
              <a:cxnLst/>
              <a:rect l="l" t="t" r="r" b="b"/>
              <a:pathLst>
                <a:path w="266700" h="342900">
                  <a:moveTo>
                    <a:pt x="0" y="0"/>
                  </a:moveTo>
                  <a:lnTo>
                    <a:pt x="266700" y="0"/>
                  </a:lnTo>
                  <a:lnTo>
                    <a:pt x="2667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555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5357812" y="2960532"/>
            <a:ext cx="257175" cy="257175"/>
            <a:chOff x="0" y="0"/>
            <a:chExt cx="342900" cy="342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555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787438" y="2960532"/>
            <a:ext cx="228600" cy="257175"/>
            <a:chOff x="0" y="0"/>
            <a:chExt cx="304800" cy="3429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555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600527" y="4854102"/>
            <a:ext cx="1964065" cy="1964065"/>
            <a:chOff x="0" y="0"/>
            <a:chExt cx="1922894" cy="19228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22907" cy="1922907"/>
            </a:xfrm>
            <a:custGeom>
              <a:avLst/>
              <a:gdLst/>
              <a:ahLst/>
              <a:cxnLst/>
              <a:rect l="l" t="t" r="r" b="b"/>
              <a:pathLst>
                <a:path w="1922907" h="1922907">
                  <a:moveTo>
                    <a:pt x="0" y="0"/>
                  </a:moveTo>
                  <a:lnTo>
                    <a:pt x="1922907" y="0"/>
                  </a:lnTo>
                  <a:lnTo>
                    <a:pt x="1922907" y="1922907"/>
                  </a:lnTo>
                  <a:lnTo>
                    <a:pt x="0" y="1922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9552053" y="2919389"/>
            <a:ext cx="298318" cy="298318"/>
            <a:chOff x="0" y="0"/>
            <a:chExt cx="1922894" cy="19228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22907" cy="1922907"/>
            </a:xfrm>
            <a:custGeom>
              <a:avLst/>
              <a:gdLst/>
              <a:ahLst/>
              <a:cxnLst/>
              <a:rect l="l" t="t" r="r" b="b"/>
              <a:pathLst>
                <a:path w="1922907" h="1922907">
                  <a:moveTo>
                    <a:pt x="0" y="0"/>
                  </a:moveTo>
                  <a:lnTo>
                    <a:pt x="1922907" y="0"/>
                  </a:lnTo>
                  <a:lnTo>
                    <a:pt x="1922907" y="1922907"/>
                  </a:lnTo>
                  <a:lnTo>
                    <a:pt x="0" y="1922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3378203" y="7689853"/>
            <a:ext cx="1565119" cy="1565119"/>
            <a:chOff x="0" y="0"/>
            <a:chExt cx="1922894" cy="192289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22907" cy="1922907"/>
            </a:xfrm>
            <a:custGeom>
              <a:avLst/>
              <a:gdLst/>
              <a:ahLst/>
              <a:cxnLst/>
              <a:rect l="l" t="t" r="r" b="b"/>
              <a:pathLst>
                <a:path w="1922907" h="1922907">
                  <a:moveTo>
                    <a:pt x="0" y="0"/>
                  </a:moveTo>
                  <a:lnTo>
                    <a:pt x="1922907" y="0"/>
                  </a:lnTo>
                  <a:lnTo>
                    <a:pt x="1922907" y="1922907"/>
                  </a:lnTo>
                  <a:lnTo>
                    <a:pt x="0" y="1922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0353302" y="7644758"/>
            <a:ext cx="1655310" cy="1655310"/>
            <a:chOff x="0" y="0"/>
            <a:chExt cx="1922894" cy="192289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22907" cy="1922907"/>
            </a:xfrm>
            <a:custGeom>
              <a:avLst/>
              <a:gdLst/>
              <a:ahLst/>
              <a:cxnLst/>
              <a:rect l="l" t="t" r="r" b="b"/>
              <a:pathLst>
                <a:path w="1922907" h="1922907">
                  <a:moveTo>
                    <a:pt x="0" y="0"/>
                  </a:moveTo>
                  <a:lnTo>
                    <a:pt x="1922907" y="0"/>
                  </a:lnTo>
                  <a:lnTo>
                    <a:pt x="1922907" y="1922907"/>
                  </a:lnTo>
                  <a:lnTo>
                    <a:pt x="0" y="1922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1"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3310065" y="4845842"/>
            <a:ext cx="1678667" cy="1844689"/>
          </a:xfrm>
          <a:custGeom>
            <a:avLst/>
            <a:gdLst/>
            <a:ahLst/>
            <a:cxnLst/>
            <a:rect l="l" t="t" r="r" b="b"/>
            <a:pathLst>
              <a:path w="1678667" h="1844689">
                <a:moveTo>
                  <a:pt x="0" y="0"/>
                </a:moveTo>
                <a:lnTo>
                  <a:pt x="1678667" y="0"/>
                </a:lnTo>
                <a:lnTo>
                  <a:pt x="1678667" y="1844689"/>
                </a:lnTo>
                <a:lnTo>
                  <a:pt x="0" y="18446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088206" y="4911739"/>
            <a:ext cx="1848791" cy="1848791"/>
          </a:xfrm>
          <a:custGeom>
            <a:avLst/>
            <a:gdLst/>
            <a:ahLst/>
            <a:cxnLst/>
            <a:rect l="l" t="t" r="r" b="b"/>
            <a:pathLst>
              <a:path w="1848791" h="1848791">
                <a:moveTo>
                  <a:pt x="0" y="0"/>
                </a:moveTo>
                <a:lnTo>
                  <a:pt x="1848791" y="0"/>
                </a:lnTo>
                <a:lnTo>
                  <a:pt x="1848791" y="1848790"/>
                </a:lnTo>
                <a:lnTo>
                  <a:pt x="0" y="18487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3130208" y="4845842"/>
            <a:ext cx="1771660" cy="1771660"/>
          </a:xfrm>
          <a:custGeom>
            <a:avLst/>
            <a:gdLst/>
            <a:ahLst/>
            <a:cxnLst/>
            <a:rect l="l" t="t" r="r" b="b"/>
            <a:pathLst>
              <a:path w="1771660" h="1771660">
                <a:moveTo>
                  <a:pt x="0" y="0"/>
                </a:moveTo>
                <a:lnTo>
                  <a:pt x="1771659" y="0"/>
                </a:lnTo>
                <a:lnTo>
                  <a:pt x="1771659" y="1771660"/>
                </a:lnTo>
                <a:lnTo>
                  <a:pt x="0" y="177166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273159" y="7614626"/>
            <a:ext cx="1715573" cy="1715573"/>
          </a:xfrm>
          <a:custGeom>
            <a:avLst/>
            <a:gdLst/>
            <a:ahLst/>
            <a:cxnLst/>
            <a:rect l="l" t="t" r="r" b="b"/>
            <a:pathLst>
              <a:path w="1715573" h="1715573">
                <a:moveTo>
                  <a:pt x="0" y="0"/>
                </a:moveTo>
                <a:lnTo>
                  <a:pt x="1715573" y="0"/>
                </a:lnTo>
                <a:lnTo>
                  <a:pt x="1715573" y="1715574"/>
                </a:lnTo>
                <a:lnTo>
                  <a:pt x="0" y="171557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838123" y="7614626"/>
            <a:ext cx="1488874" cy="1488874"/>
          </a:xfrm>
          <a:custGeom>
            <a:avLst/>
            <a:gdLst/>
            <a:ahLst/>
            <a:cxnLst/>
            <a:rect l="l" t="t" r="r" b="b"/>
            <a:pathLst>
              <a:path w="1488874" h="1488874">
                <a:moveTo>
                  <a:pt x="0" y="0"/>
                </a:moveTo>
                <a:lnTo>
                  <a:pt x="1488873" y="0"/>
                </a:lnTo>
                <a:lnTo>
                  <a:pt x="1488873" y="1488874"/>
                </a:lnTo>
                <a:lnTo>
                  <a:pt x="0" y="148887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143000" y="1385888"/>
            <a:ext cx="17102138" cy="69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HỆ SINH THÁI CÔNG NGHỆ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4365" y="2931957"/>
            <a:ext cx="3391948" cy="31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vi-VN" sz="20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Giao diện người dùng</a:t>
            </a:r>
            <a:endParaRPr lang="en-US" sz="2025" b="1">
              <a:solidFill>
                <a:srgbClr val="0F172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43000" y="3365759"/>
            <a:ext cx="3357448" cy="1188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 b="1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 19, TypeScript, Vite, Tailwind CSS, TanStack Query, Zustand, Monaco Editor</a:t>
            </a:r>
            <a:endParaRPr lang="en-US" sz="1687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5647277" y="2931957"/>
            <a:ext cx="3353848" cy="31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Nền tảng backend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57812" y="3274857"/>
            <a:ext cx="3357448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 b="1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Node.js, Express 5, TypeScript, Prisma và Zod</a:t>
            </a:r>
            <a:endParaRPr lang="en-US" sz="1687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882060" y="2931957"/>
            <a:ext cx="259779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Thời gian thực và dữ liệu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72625" y="3274838"/>
            <a:ext cx="3357448" cy="118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PostgreSQL, Redis, Socket.IO, WebRTC, Supabase Storage và MinIO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057833" y="2931957"/>
            <a:ext cx="3059609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và bộ máy thực thi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787438" y="3274857"/>
            <a:ext cx="3357448" cy="77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Google Gemini, MediaPipe Tasks Vision và Judge0 CE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47818" y="6744222"/>
            <a:ext cx="869483" cy="51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68883" y="6739397"/>
            <a:ext cx="1161031" cy="521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8"/>
              </a:lnSpc>
            </a:pPr>
            <a:r>
              <a:rPr lang="en-US" sz="2441" b="1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Node.js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390152" y="9274023"/>
            <a:ext cx="1518493" cy="51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Express.js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38123" y="9274023"/>
            <a:ext cx="1549896" cy="113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TypeScript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349575" y="6617502"/>
            <a:ext cx="1622375" cy="51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MediaPipe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349575" y="9274023"/>
            <a:ext cx="1767185" cy="51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834928" y="9274023"/>
            <a:ext cx="832842" cy="51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Redis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42528" y="6684469"/>
            <a:ext cx="940147" cy="51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9C0F8E6-05E7-D9A1-EDF5-127343E07448}"/>
              </a:ext>
            </a:extLst>
          </p:cNvPr>
          <p:cNvCxnSpPr/>
          <p:nvPr/>
        </p:nvCxnSpPr>
        <p:spPr>
          <a:xfrm flipV="1">
            <a:off x="2705100" y="8013700"/>
            <a:ext cx="5740400" cy="25400"/>
          </a:xfrm>
          <a:prstGeom prst="line">
            <a:avLst/>
          </a:prstGeom>
          <a:ln w="19050">
            <a:solidFill>
              <a:srgbClr val="7A8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97CD3B-647B-B5B7-4E5D-DEEB4B8EC5C2}"/>
              </a:ext>
            </a:extLst>
          </p:cNvPr>
          <p:cNvCxnSpPr/>
          <p:nvPr/>
        </p:nvCxnSpPr>
        <p:spPr>
          <a:xfrm flipV="1">
            <a:off x="2705100" y="8013700"/>
            <a:ext cx="1549400" cy="25400"/>
          </a:xfrm>
          <a:prstGeom prst="line">
            <a:avLst/>
          </a:prstGeom>
          <a:ln w="19050">
            <a:solidFill>
              <a:srgbClr val="7A8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3123E2-6A6C-1800-BE40-B9BBDAF7D0CC}"/>
              </a:ext>
            </a:extLst>
          </p:cNvPr>
          <p:cNvCxnSpPr/>
          <p:nvPr/>
        </p:nvCxnSpPr>
        <p:spPr>
          <a:xfrm flipV="1">
            <a:off x="2705100" y="5981700"/>
            <a:ext cx="5740400" cy="25400"/>
          </a:xfrm>
          <a:prstGeom prst="line">
            <a:avLst/>
          </a:prstGeom>
          <a:ln w="19050">
            <a:solidFill>
              <a:srgbClr val="7A8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07D063E-3C2F-DAB0-9942-6B2F80635CDE}"/>
              </a:ext>
            </a:extLst>
          </p:cNvPr>
          <p:cNvCxnSpPr/>
          <p:nvPr/>
        </p:nvCxnSpPr>
        <p:spPr>
          <a:xfrm flipV="1">
            <a:off x="2705100" y="5981700"/>
            <a:ext cx="1549400" cy="25400"/>
          </a:xfrm>
          <a:prstGeom prst="line">
            <a:avLst/>
          </a:prstGeom>
          <a:ln w="19050">
            <a:solidFill>
              <a:srgbClr val="7A8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027022-2658-BCB7-00C1-7266374126C5}"/>
              </a:ext>
            </a:extLst>
          </p:cNvPr>
          <p:cNvCxnSpPr/>
          <p:nvPr/>
        </p:nvCxnSpPr>
        <p:spPr>
          <a:xfrm flipV="1">
            <a:off x="2705100" y="3949700"/>
            <a:ext cx="5740400" cy="25400"/>
          </a:xfrm>
          <a:prstGeom prst="line">
            <a:avLst/>
          </a:prstGeom>
          <a:ln w="19050">
            <a:solidFill>
              <a:srgbClr val="7A8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3A1308B-246B-2117-288F-37669B24DC2E}"/>
              </a:ext>
            </a:extLst>
          </p:cNvPr>
          <p:cNvCxnSpPr/>
          <p:nvPr/>
        </p:nvCxnSpPr>
        <p:spPr>
          <a:xfrm flipV="1">
            <a:off x="2705100" y="3949700"/>
            <a:ext cx="1549400" cy="25400"/>
          </a:xfrm>
          <a:prstGeom prst="line">
            <a:avLst/>
          </a:prstGeom>
          <a:ln w="19050">
            <a:solidFill>
              <a:srgbClr val="7A8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138" cy="69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THIẾT KẾ USE CASE HỆ THỐNG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3271500" y="3062211"/>
            <a:ext cx="4445000" cy="30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0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Vai trò và quyền hạn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52500" y="3357315"/>
            <a:ext cx="4127500" cy="158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vi-VN" sz="1600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Quản trị viên: quản lý người dùng, học vụ, cấu hình hệ thống và nhật ký hoạt động.</a:t>
            </a:r>
            <a:endParaRPr lang="en-US" sz="1600">
              <a:solidFill>
                <a:srgbClr val="3341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652500" y="5359803"/>
            <a:ext cx="4127500" cy="158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1600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Giảng viên: quản lý câu hỏi, đề thi, ca thi; giám sát, chấm điểm và xử lý phúc khảo.</a:t>
            </a:r>
            <a:endParaRPr lang="en-US" sz="1600">
              <a:solidFill>
                <a:srgbClr val="3341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652500" y="6934952"/>
            <a:ext cx="4127500" cy="158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1600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Sinh viên: tham gia ca thi, thực hiện kiểm tra giám sát, xem kết quả và gửi phúc khảo.</a:t>
            </a:r>
            <a:endParaRPr lang="en-US" sz="1600">
              <a:solidFill>
                <a:srgbClr val="3341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3359784" y="3538280"/>
            <a:ext cx="285750" cy="300038"/>
            <a:chOff x="0" y="0"/>
            <a:chExt cx="381000" cy="40005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359784" y="5540778"/>
            <a:ext cx="285750" cy="300038"/>
            <a:chOff x="0" y="0"/>
            <a:chExt cx="381000" cy="40005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359784" y="7115918"/>
            <a:ext cx="285750" cy="300038"/>
            <a:chOff x="0" y="0"/>
            <a:chExt cx="381000" cy="40005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B2BBFC9-C00D-FE6B-C27B-F6C8009BF13B}"/>
              </a:ext>
            </a:extLst>
          </p:cNvPr>
          <p:cNvSpPr/>
          <p:nvPr/>
        </p:nvSpPr>
        <p:spPr>
          <a:xfrm>
            <a:off x="3175000" y="2667000"/>
            <a:ext cx="9398000" cy="6350000"/>
          </a:xfrm>
          <a:prstGeom prst="rect">
            <a:avLst/>
          </a:prstGeom>
          <a:noFill/>
          <a:ln w="22225" cap="flat" cmpd="sng" algn="ctr">
            <a:solidFill>
              <a:srgbClr val="75A99A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54B6D4-0A8D-D9A0-0802-DEF532C3B05F}"/>
              </a:ext>
            </a:extLst>
          </p:cNvPr>
          <p:cNvSpPr txBox="1"/>
          <p:nvPr/>
        </p:nvSpPr>
        <p:spPr>
          <a:xfrm>
            <a:off x="6096000" y="2794000"/>
            <a:ext cx="3556000" cy="379591"/>
          </a:xfrm>
          <a:prstGeom prst="rect">
            <a:avLst/>
          </a:prstGeom>
          <a:noFill/>
        </p:spPr>
        <p:txBody>
          <a:bodyPr vert="horz" lIns="76200" tIns="50800" rIns="76200" bIns="50800" rtlCol="0" anchor="ctr">
            <a:spAutoFit/>
          </a:bodyPr>
          <a:lstStyle/>
          <a:p>
            <a:pPr algn="ctr"/>
            <a:r>
              <a:rPr lang="en-US" b="1">
                <a:solidFill>
                  <a:srgbClr val="007C61"/>
                </a:solidFill>
                <a:latin typeface="Arimo" panose="020B0604020202020204" charset="0"/>
              </a:rPr>
              <a:t>HỆ THỐNG SOES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DFBFE62-4A53-6CCB-5FB1-AB2B98B50F44}"/>
              </a:ext>
            </a:extLst>
          </p:cNvPr>
          <p:cNvSpPr/>
          <p:nvPr/>
        </p:nvSpPr>
        <p:spPr>
          <a:xfrm>
            <a:off x="990600" y="3632200"/>
            <a:ext cx="1714500" cy="685800"/>
          </a:xfrm>
          <a:prstGeom prst="roundRect">
            <a:avLst/>
          </a:prstGeom>
          <a:solidFill>
            <a:srgbClr val="EAF6F2"/>
          </a:solidFill>
          <a:ln w="15875">
            <a:solidFill>
              <a:srgbClr val="70B8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600" b="1">
                <a:solidFill>
                  <a:srgbClr val="1F2937"/>
                </a:solidFill>
                <a:latin typeface="Arimo" panose="020B0604020202020204" charset="0"/>
              </a:rPr>
              <a:t>Quản trị viên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01485A-995D-C1BE-13AF-3D7B4D29F328}"/>
              </a:ext>
            </a:extLst>
          </p:cNvPr>
          <p:cNvSpPr/>
          <p:nvPr/>
        </p:nvSpPr>
        <p:spPr>
          <a:xfrm>
            <a:off x="990600" y="5664200"/>
            <a:ext cx="1714500" cy="685800"/>
          </a:xfrm>
          <a:prstGeom prst="roundRect">
            <a:avLst/>
          </a:prstGeom>
          <a:solidFill>
            <a:srgbClr val="EAF6F2"/>
          </a:solidFill>
          <a:ln w="15875">
            <a:solidFill>
              <a:srgbClr val="70B8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600" b="1">
                <a:solidFill>
                  <a:srgbClr val="1F2937"/>
                </a:solidFill>
                <a:latin typeface="Arimo" panose="020B0604020202020204" charset="0"/>
              </a:rPr>
              <a:t>Giảng viên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2855098-A8C6-2723-0A18-3BBCA00FC600}"/>
              </a:ext>
            </a:extLst>
          </p:cNvPr>
          <p:cNvSpPr/>
          <p:nvPr/>
        </p:nvSpPr>
        <p:spPr>
          <a:xfrm>
            <a:off x="990600" y="7696200"/>
            <a:ext cx="1714500" cy="685800"/>
          </a:xfrm>
          <a:prstGeom prst="roundRect">
            <a:avLst/>
          </a:prstGeom>
          <a:solidFill>
            <a:srgbClr val="EAF6F2"/>
          </a:solidFill>
          <a:ln w="15875">
            <a:solidFill>
              <a:srgbClr val="70B8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600" b="1">
                <a:solidFill>
                  <a:srgbClr val="1F2937"/>
                </a:solidFill>
                <a:latin typeface="Arimo" panose="020B0604020202020204" charset="0"/>
              </a:rPr>
              <a:t>Sinh viên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159C8B2-E686-BF67-8948-9EB801CDE972}"/>
              </a:ext>
            </a:extLst>
          </p:cNvPr>
          <p:cNvSpPr/>
          <p:nvPr/>
        </p:nvSpPr>
        <p:spPr>
          <a:xfrm>
            <a:off x="4254500" y="3492500"/>
            <a:ext cx="3175000" cy="9144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A9C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Quản lý học vụ</a:t>
            </a:r>
          </a:p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và tài khoản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F575A3D-0007-931E-02AC-B87F28012A32}"/>
              </a:ext>
            </a:extLst>
          </p:cNvPr>
          <p:cNvSpPr/>
          <p:nvPr/>
        </p:nvSpPr>
        <p:spPr>
          <a:xfrm>
            <a:off x="8445500" y="3492500"/>
            <a:ext cx="3175000" cy="9144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A9C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Cấu hình hệ thống</a:t>
            </a:r>
          </a:p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và nhật ký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AB43097-CFB5-4791-4ED1-F34227CA7823}"/>
              </a:ext>
            </a:extLst>
          </p:cNvPr>
          <p:cNvSpPr/>
          <p:nvPr/>
        </p:nvSpPr>
        <p:spPr>
          <a:xfrm>
            <a:off x="4254500" y="5524500"/>
            <a:ext cx="3175000" cy="9144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A9C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Quản lý câu hỏi</a:t>
            </a:r>
          </a:p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và đề thi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2B8FD99-29C9-8281-332E-BD9D0B0BECCD}"/>
              </a:ext>
            </a:extLst>
          </p:cNvPr>
          <p:cNvSpPr/>
          <p:nvPr/>
        </p:nvSpPr>
        <p:spPr>
          <a:xfrm>
            <a:off x="8445500" y="5524500"/>
            <a:ext cx="3175000" cy="9144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A9C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Tổ chức, giám sát</a:t>
            </a:r>
          </a:p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và chấm thi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2D0B59E-A1B9-8962-87BE-C6C38F9FC2A1}"/>
              </a:ext>
            </a:extLst>
          </p:cNvPr>
          <p:cNvSpPr/>
          <p:nvPr/>
        </p:nvSpPr>
        <p:spPr>
          <a:xfrm>
            <a:off x="4254500" y="7556500"/>
            <a:ext cx="3175000" cy="9144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A9C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Tham gia thi và</a:t>
            </a:r>
          </a:p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kiểm tra giám sát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6DEE05D-E70E-007F-4FCE-CA5B569447AA}"/>
              </a:ext>
            </a:extLst>
          </p:cNvPr>
          <p:cNvSpPr/>
          <p:nvPr/>
        </p:nvSpPr>
        <p:spPr>
          <a:xfrm>
            <a:off x="8445500" y="7556500"/>
            <a:ext cx="3175000" cy="9144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A9C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Xem kết quả và</a:t>
            </a:r>
          </a:p>
          <a:p>
            <a:pPr algn="ctr"/>
            <a:r>
              <a:rPr lang="en-US" sz="1500">
                <a:solidFill>
                  <a:srgbClr val="1F2937"/>
                </a:solidFill>
                <a:latin typeface="Arimo" panose="020B0604020202020204" charset="0"/>
              </a:rPr>
              <a:t>gửi phúc khảo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AE34D9-19B4-057C-D2F6-5E60C5DEDF28}"/>
              </a:ext>
            </a:extLst>
          </p:cNvPr>
          <p:cNvCxnSpPr/>
          <p:nvPr/>
        </p:nvCxnSpPr>
        <p:spPr>
          <a:xfrm>
            <a:off x="12954000" y="8661400"/>
            <a:ext cx="381000" cy="0"/>
          </a:xfrm>
          <a:prstGeom prst="line">
            <a:avLst/>
          </a:prstGeom>
          <a:ln w="19050">
            <a:solidFill>
              <a:srgbClr val="7A8F8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F6B413-874C-689F-246A-C6972AC362E7}"/>
              </a:ext>
            </a:extLst>
          </p:cNvPr>
          <p:cNvCxnSpPr/>
          <p:nvPr/>
        </p:nvCxnSpPr>
        <p:spPr>
          <a:xfrm>
            <a:off x="8763000" y="8661400"/>
            <a:ext cx="381000" cy="0"/>
          </a:xfrm>
          <a:prstGeom prst="line">
            <a:avLst/>
          </a:prstGeom>
          <a:ln w="19050">
            <a:solidFill>
              <a:srgbClr val="7A8F8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3B8C18-84B0-1DC7-E2B2-F0C2E1222A8E}"/>
              </a:ext>
            </a:extLst>
          </p:cNvPr>
          <p:cNvCxnSpPr/>
          <p:nvPr/>
        </p:nvCxnSpPr>
        <p:spPr>
          <a:xfrm>
            <a:off x="4572000" y="8661400"/>
            <a:ext cx="381000" cy="0"/>
          </a:xfrm>
          <a:prstGeom prst="line">
            <a:avLst/>
          </a:prstGeom>
          <a:ln w="19050">
            <a:solidFill>
              <a:srgbClr val="7A8F8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69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MÔ HÌNH DỮ LIỆU NGHIỆP VỤ CỐT LÕI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FE2975-DD8A-5BF1-100B-0FFBBFAD1870}"/>
              </a:ext>
            </a:extLst>
          </p:cNvPr>
          <p:cNvSpPr/>
          <p:nvPr/>
        </p:nvSpPr>
        <p:spPr>
          <a:xfrm>
            <a:off x="762000" y="2794000"/>
            <a:ext cx="3810000" cy="558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3E7209-FD7E-0C90-5872-456571E3A1F5}"/>
              </a:ext>
            </a:extLst>
          </p:cNvPr>
          <p:cNvSpPr/>
          <p:nvPr/>
        </p:nvSpPr>
        <p:spPr>
          <a:xfrm>
            <a:off x="914400" y="2997200"/>
            <a:ext cx="3505200" cy="685800"/>
          </a:xfrm>
          <a:prstGeom prst="roundRect">
            <a:avLst/>
          </a:prstGeom>
          <a:solidFill>
            <a:srgbClr val="008F6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mo" panose="020B0604020202020204" charset="0"/>
              </a:rPr>
              <a:t>HỌC VỤ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ED70A1-D8CA-D47A-A1BB-E65895EC52B9}"/>
              </a:ext>
            </a:extLst>
          </p:cNvPr>
          <p:cNvSpPr/>
          <p:nvPr/>
        </p:nvSpPr>
        <p:spPr>
          <a:xfrm>
            <a:off x="1117600" y="39370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User / Teacher / Student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E0A0E6-8B34-29F2-9E2F-736596D6CB51}"/>
              </a:ext>
            </a:extLst>
          </p:cNvPr>
          <p:cNvSpPr/>
          <p:nvPr/>
        </p:nvSpPr>
        <p:spPr>
          <a:xfrm>
            <a:off x="1117600" y="47498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Semester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1167C5-95AD-2464-BD17-E6321A779CC7}"/>
              </a:ext>
            </a:extLst>
          </p:cNvPr>
          <p:cNvSpPr/>
          <p:nvPr/>
        </p:nvSpPr>
        <p:spPr>
          <a:xfrm>
            <a:off x="1117600" y="55626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Subject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A4FC94F-F24E-964C-BEDC-6D8E70692CC5}"/>
              </a:ext>
            </a:extLst>
          </p:cNvPr>
          <p:cNvSpPr/>
          <p:nvPr/>
        </p:nvSpPr>
        <p:spPr>
          <a:xfrm>
            <a:off x="1117600" y="63754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CourseOffering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BFA040-96A7-1AE2-C695-47C179279DDE}"/>
              </a:ext>
            </a:extLst>
          </p:cNvPr>
          <p:cNvSpPr/>
          <p:nvPr/>
        </p:nvSpPr>
        <p:spPr>
          <a:xfrm>
            <a:off x="4953000" y="2794000"/>
            <a:ext cx="3810000" cy="558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2FEE6D9-E748-54D4-A08B-6F18FE8F6F08}"/>
              </a:ext>
            </a:extLst>
          </p:cNvPr>
          <p:cNvSpPr/>
          <p:nvPr/>
        </p:nvSpPr>
        <p:spPr>
          <a:xfrm>
            <a:off x="5105400" y="2997200"/>
            <a:ext cx="3505200" cy="685800"/>
          </a:xfrm>
          <a:prstGeom prst="roundRect">
            <a:avLst/>
          </a:prstGeom>
          <a:solidFill>
            <a:srgbClr val="1984A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mo" panose="020B0604020202020204" charset="0"/>
              </a:rPr>
              <a:t>CÂU HỎI VÀ ĐỀ THI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CA5C05A-DB6D-5B2A-B141-86F12F7B431E}"/>
              </a:ext>
            </a:extLst>
          </p:cNvPr>
          <p:cNvSpPr/>
          <p:nvPr/>
        </p:nvSpPr>
        <p:spPr>
          <a:xfrm>
            <a:off x="5308600" y="39370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Question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97938A-19B1-A854-D51B-74A6697655AB}"/>
              </a:ext>
            </a:extLst>
          </p:cNvPr>
          <p:cNvSpPr/>
          <p:nvPr/>
        </p:nvSpPr>
        <p:spPr>
          <a:xfrm>
            <a:off x="5308600" y="47498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Exam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5BA3B8F-0A28-473B-4C05-F9FBD2F1C2BD}"/>
              </a:ext>
            </a:extLst>
          </p:cNvPr>
          <p:cNvSpPr/>
          <p:nvPr/>
        </p:nvSpPr>
        <p:spPr>
          <a:xfrm>
            <a:off x="5308600" y="55626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ExamQuestion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40AA9F4-4711-2FAC-BD40-D6113CDD9B4B}"/>
              </a:ext>
            </a:extLst>
          </p:cNvPr>
          <p:cNvSpPr/>
          <p:nvPr/>
        </p:nvSpPr>
        <p:spPr>
          <a:xfrm>
            <a:off x="5308600" y="63754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ExamSchedule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A3A8450-D779-C87E-D341-D30A5CF62E79}"/>
              </a:ext>
            </a:extLst>
          </p:cNvPr>
          <p:cNvSpPr/>
          <p:nvPr/>
        </p:nvSpPr>
        <p:spPr>
          <a:xfrm>
            <a:off x="9144000" y="2794000"/>
            <a:ext cx="3810000" cy="558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353B8E4-85D7-FAFF-BCD8-068AB6638D6B}"/>
              </a:ext>
            </a:extLst>
          </p:cNvPr>
          <p:cNvSpPr/>
          <p:nvPr/>
        </p:nvSpPr>
        <p:spPr>
          <a:xfrm>
            <a:off x="9296400" y="2997200"/>
            <a:ext cx="3505200" cy="685800"/>
          </a:xfrm>
          <a:prstGeom prst="roundRect">
            <a:avLst/>
          </a:prstGeom>
          <a:solidFill>
            <a:srgbClr val="CF8A1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mo" panose="020B0604020202020204" charset="0"/>
              </a:rPr>
              <a:t>LÀM BÀI VÀ CHẤM ĐIỂM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59B255A-4F5D-6845-3D18-CFC93D7B753E}"/>
              </a:ext>
            </a:extLst>
          </p:cNvPr>
          <p:cNvSpPr/>
          <p:nvPr/>
        </p:nvSpPr>
        <p:spPr>
          <a:xfrm>
            <a:off x="9499600" y="39370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ExamAttempt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6073BFE-7373-F6A5-0F8C-1F01D320C413}"/>
              </a:ext>
            </a:extLst>
          </p:cNvPr>
          <p:cNvSpPr/>
          <p:nvPr/>
        </p:nvSpPr>
        <p:spPr>
          <a:xfrm>
            <a:off x="9499600" y="47498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StudentAnswer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B66459D-3F7C-2132-954C-B1EDAF3A190C}"/>
              </a:ext>
            </a:extLst>
          </p:cNvPr>
          <p:cNvSpPr/>
          <p:nvPr/>
        </p:nvSpPr>
        <p:spPr>
          <a:xfrm>
            <a:off x="9499600" y="55626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ProgrammingSubmission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D68E00B-F47F-3DB7-F091-9F3E69179CC9}"/>
              </a:ext>
            </a:extLst>
          </p:cNvPr>
          <p:cNvSpPr/>
          <p:nvPr/>
        </p:nvSpPr>
        <p:spPr>
          <a:xfrm>
            <a:off x="9499600" y="63754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GradeAppeal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3491251-6245-E94A-6014-3DF0A2274584}"/>
              </a:ext>
            </a:extLst>
          </p:cNvPr>
          <p:cNvSpPr/>
          <p:nvPr/>
        </p:nvSpPr>
        <p:spPr>
          <a:xfrm>
            <a:off x="13335000" y="2794000"/>
            <a:ext cx="3810000" cy="558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CAE78BE-0C98-EF4D-19CF-CF0DACC647B1}"/>
              </a:ext>
            </a:extLst>
          </p:cNvPr>
          <p:cNvSpPr/>
          <p:nvPr/>
        </p:nvSpPr>
        <p:spPr>
          <a:xfrm>
            <a:off x="13487400" y="2997200"/>
            <a:ext cx="3505200" cy="685800"/>
          </a:xfrm>
          <a:prstGeom prst="roundRect">
            <a:avLst/>
          </a:prstGeom>
          <a:solidFill>
            <a:srgbClr val="B650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mo" panose="020B0604020202020204" charset="0"/>
              </a:rPr>
              <a:t>GIÁM SÁT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4523D26-E348-E6CB-B6A2-5EA0A52BED01}"/>
              </a:ext>
            </a:extLst>
          </p:cNvPr>
          <p:cNvSpPr/>
          <p:nvPr/>
        </p:nvSpPr>
        <p:spPr>
          <a:xfrm>
            <a:off x="13690600" y="39370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ExamSession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DFBF246-BCC7-3300-4D5D-119492DCE629}"/>
              </a:ext>
            </a:extLst>
          </p:cNvPr>
          <p:cNvSpPr/>
          <p:nvPr/>
        </p:nvSpPr>
        <p:spPr>
          <a:xfrm>
            <a:off x="13690600" y="47498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Violation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B03CD62-A769-7125-5CCC-6A152AA8F399}"/>
              </a:ext>
            </a:extLst>
          </p:cNvPr>
          <p:cNvSpPr/>
          <p:nvPr/>
        </p:nvSpPr>
        <p:spPr>
          <a:xfrm>
            <a:off x="13690600" y="55626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ViolationEvidence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C702546-EC07-0F9E-A137-D7CBD7A98DCA}"/>
              </a:ext>
            </a:extLst>
          </p:cNvPr>
          <p:cNvSpPr/>
          <p:nvPr/>
        </p:nvSpPr>
        <p:spPr>
          <a:xfrm>
            <a:off x="13690600" y="6375400"/>
            <a:ext cx="3098800" cy="584200"/>
          </a:xfrm>
          <a:prstGeom prst="roundRect">
            <a:avLst/>
          </a:prstGeom>
          <a:solidFill>
            <a:srgbClr val="F7FAF9"/>
          </a:solidFill>
          <a:ln w="15875">
            <a:solidFill>
              <a:srgbClr val="D8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US" sz="1450">
                <a:solidFill>
                  <a:srgbClr val="1F2937"/>
                </a:solidFill>
                <a:latin typeface="Arimo" panose="020B0604020202020204" charset="0"/>
              </a:rPr>
              <a:t>Notification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30934" y="2636044"/>
            <a:ext cx="9156944" cy="5457825"/>
            <a:chOff x="0" y="0"/>
            <a:chExt cx="12209259" cy="7277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09272" cy="7277100"/>
            </a:xfrm>
            <a:custGeom>
              <a:avLst/>
              <a:gdLst/>
              <a:ahLst/>
              <a:cxnLst/>
              <a:rect l="l" t="t" r="r" b="b"/>
              <a:pathLst>
                <a:path w="12209272" h="7277100">
                  <a:moveTo>
                    <a:pt x="0" y="306324"/>
                  </a:moveTo>
                  <a:cubicBezTo>
                    <a:pt x="0" y="137160"/>
                    <a:pt x="137160" y="0"/>
                    <a:pt x="306324" y="0"/>
                  </a:cubicBezTo>
                  <a:lnTo>
                    <a:pt x="11902948" y="0"/>
                  </a:lnTo>
                  <a:cubicBezTo>
                    <a:pt x="12072112" y="0"/>
                    <a:pt x="12209272" y="137160"/>
                    <a:pt x="12209272" y="306324"/>
                  </a:cubicBezTo>
                  <a:lnTo>
                    <a:pt x="12209272" y="6970776"/>
                  </a:lnTo>
                  <a:cubicBezTo>
                    <a:pt x="12209272" y="7139940"/>
                    <a:pt x="12072112" y="7277100"/>
                    <a:pt x="11902948" y="7277100"/>
                  </a:cubicBezTo>
                  <a:lnTo>
                    <a:pt x="306324" y="7277100"/>
                  </a:lnTo>
                  <a:cubicBezTo>
                    <a:pt x="137160" y="7277100"/>
                    <a:pt x="0" y="7139940"/>
                    <a:pt x="0" y="6970776"/>
                  </a:cubicBezTo>
                  <a:close/>
                </a:path>
              </a:pathLst>
            </a:custGeom>
            <a:blipFill>
              <a:blip r:embed="rId2"/>
              <a:stretch>
                <a:fillRect l="-5703" r="-5703"/>
              </a:stretch>
            </a:blipFill>
            <a:ln w="28575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9101138"/>
            <a:ext cx="16459200" cy="14288"/>
            <a:chOff x="0" y="0"/>
            <a:chExt cx="219456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9050"/>
            </a:xfrm>
            <a:custGeom>
              <a:avLst/>
              <a:gdLst/>
              <a:ahLst/>
              <a:cxnLst/>
              <a:rect l="l" t="t" r="r" b="b"/>
              <a:pathLst>
                <a:path w="21945600" h="1905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4400" y="2536031"/>
            <a:ext cx="6987921" cy="1285875"/>
            <a:chOff x="0" y="0"/>
            <a:chExt cx="9317228" cy="1714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17228" cy="1714500"/>
            </a:xfrm>
            <a:custGeom>
              <a:avLst/>
              <a:gdLst/>
              <a:ahLst/>
              <a:cxnLst/>
              <a:rect l="l" t="t" r="r" b="b"/>
              <a:pathLst>
                <a:path w="9317228" h="1714500">
                  <a:moveTo>
                    <a:pt x="0" y="0"/>
                  </a:moveTo>
                  <a:lnTo>
                    <a:pt x="9317228" y="0"/>
                  </a:lnTo>
                  <a:lnTo>
                    <a:pt x="9317228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4400" y="3807619"/>
            <a:ext cx="6987921" cy="14288"/>
            <a:chOff x="0" y="0"/>
            <a:chExt cx="9317228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17228" cy="19050"/>
            </a:xfrm>
            <a:custGeom>
              <a:avLst/>
              <a:gdLst/>
              <a:ahLst/>
              <a:cxnLst/>
              <a:rect l="l" t="t" r="r" b="b"/>
              <a:pathLst>
                <a:path w="9317228" h="19050">
                  <a:moveTo>
                    <a:pt x="0" y="0"/>
                  </a:moveTo>
                  <a:lnTo>
                    <a:pt x="9317228" y="0"/>
                  </a:lnTo>
                  <a:lnTo>
                    <a:pt x="93172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2536031"/>
            <a:ext cx="6987921" cy="14288"/>
            <a:chOff x="0" y="0"/>
            <a:chExt cx="9317228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17228" cy="19050"/>
            </a:xfrm>
            <a:custGeom>
              <a:avLst/>
              <a:gdLst/>
              <a:ahLst/>
              <a:cxnLst/>
              <a:rect l="l" t="t" r="r" b="b"/>
              <a:pathLst>
                <a:path w="9317228" h="19050">
                  <a:moveTo>
                    <a:pt x="0" y="0"/>
                  </a:moveTo>
                  <a:lnTo>
                    <a:pt x="9317228" y="0"/>
                  </a:lnTo>
                  <a:lnTo>
                    <a:pt x="93172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14400" y="2536031"/>
            <a:ext cx="57150" cy="1285875"/>
            <a:chOff x="0" y="0"/>
            <a:chExt cx="76200" cy="1714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200" cy="1714500"/>
            </a:xfrm>
            <a:custGeom>
              <a:avLst/>
              <a:gdLst/>
              <a:ahLst/>
              <a:cxnLst/>
              <a:rect l="l" t="t" r="r" b="b"/>
              <a:pathLst>
                <a:path w="76200" h="1714500">
                  <a:moveTo>
                    <a:pt x="0" y="0"/>
                  </a:moveTo>
                  <a:lnTo>
                    <a:pt x="76200" y="0"/>
                  </a:lnTo>
                  <a:lnTo>
                    <a:pt x="762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888034" y="2536031"/>
            <a:ext cx="14288" cy="1285875"/>
            <a:chOff x="0" y="0"/>
            <a:chExt cx="19050" cy="1714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50" cy="1714500"/>
            </a:xfrm>
            <a:custGeom>
              <a:avLst/>
              <a:gdLst/>
              <a:ahLst/>
              <a:cxnLst/>
              <a:rect l="l" t="t" r="r" b="b"/>
              <a:pathLst>
                <a:path w="19050" h="1714500">
                  <a:moveTo>
                    <a:pt x="0" y="0"/>
                  </a:moveTo>
                  <a:lnTo>
                    <a:pt x="19050" y="0"/>
                  </a:lnTo>
                  <a:lnTo>
                    <a:pt x="1905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14400" y="3993356"/>
            <a:ext cx="6987921" cy="1285875"/>
            <a:chOff x="0" y="0"/>
            <a:chExt cx="9317228" cy="1714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317228" cy="1714500"/>
            </a:xfrm>
            <a:custGeom>
              <a:avLst/>
              <a:gdLst/>
              <a:ahLst/>
              <a:cxnLst/>
              <a:rect l="l" t="t" r="r" b="b"/>
              <a:pathLst>
                <a:path w="9317228" h="1714500">
                  <a:moveTo>
                    <a:pt x="0" y="0"/>
                  </a:moveTo>
                  <a:lnTo>
                    <a:pt x="9317228" y="0"/>
                  </a:lnTo>
                  <a:lnTo>
                    <a:pt x="9317228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14400" y="5264944"/>
            <a:ext cx="6987921" cy="14288"/>
            <a:chOff x="0" y="0"/>
            <a:chExt cx="9317228" cy="190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17228" cy="19050"/>
            </a:xfrm>
            <a:custGeom>
              <a:avLst/>
              <a:gdLst/>
              <a:ahLst/>
              <a:cxnLst/>
              <a:rect l="l" t="t" r="r" b="b"/>
              <a:pathLst>
                <a:path w="9317228" h="19050">
                  <a:moveTo>
                    <a:pt x="0" y="0"/>
                  </a:moveTo>
                  <a:lnTo>
                    <a:pt x="9317228" y="0"/>
                  </a:lnTo>
                  <a:lnTo>
                    <a:pt x="93172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14400" y="3993356"/>
            <a:ext cx="6987921" cy="14288"/>
            <a:chOff x="0" y="0"/>
            <a:chExt cx="9317228" cy="190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17228" cy="19050"/>
            </a:xfrm>
            <a:custGeom>
              <a:avLst/>
              <a:gdLst/>
              <a:ahLst/>
              <a:cxnLst/>
              <a:rect l="l" t="t" r="r" b="b"/>
              <a:pathLst>
                <a:path w="9317228" h="19050">
                  <a:moveTo>
                    <a:pt x="0" y="0"/>
                  </a:moveTo>
                  <a:lnTo>
                    <a:pt x="9317228" y="0"/>
                  </a:lnTo>
                  <a:lnTo>
                    <a:pt x="93172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14400" y="3993356"/>
            <a:ext cx="57150" cy="1285875"/>
            <a:chOff x="0" y="0"/>
            <a:chExt cx="76200" cy="1714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6200" cy="1714500"/>
            </a:xfrm>
            <a:custGeom>
              <a:avLst/>
              <a:gdLst/>
              <a:ahLst/>
              <a:cxnLst/>
              <a:rect l="l" t="t" r="r" b="b"/>
              <a:pathLst>
                <a:path w="76200" h="1714500">
                  <a:moveTo>
                    <a:pt x="0" y="0"/>
                  </a:moveTo>
                  <a:lnTo>
                    <a:pt x="76200" y="0"/>
                  </a:lnTo>
                  <a:lnTo>
                    <a:pt x="762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888034" y="3993356"/>
            <a:ext cx="14288" cy="1285875"/>
            <a:chOff x="0" y="0"/>
            <a:chExt cx="19050" cy="1714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050" cy="1714500"/>
            </a:xfrm>
            <a:custGeom>
              <a:avLst/>
              <a:gdLst/>
              <a:ahLst/>
              <a:cxnLst/>
              <a:rect l="l" t="t" r="r" b="b"/>
              <a:pathLst>
                <a:path w="19050" h="1714500">
                  <a:moveTo>
                    <a:pt x="0" y="0"/>
                  </a:moveTo>
                  <a:lnTo>
                    <a:pt x="19050" y="0"/>
                  </a:lnTo>
                  <a:lnTo>
                    <a:pt x="1905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4400" y="5450681"/>
            <a:ext cx="6987921" cy="1285875"/>
            <a:chOff x="0" y="0"/>
            <a:chExt cx="9317228" cy="1714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317228" cy="1714500"/>
            </a:xfrm>
            <a:custGeom>
              <a:avLst/>
              <a:gdLst/>
              <a:ahLst/>
              <a:cxnLst/>
              <a:rect l="l" t="t" r="r" b="b"/>
              <a:pathLst>
                <a:path w="9317228" h="1714500">
                  <a:moveTo>
                    <a:pt x="0" y="0"/>
                  </a:moveTo>
                  <a:lnTo>
                    <a:pt x="9317228" y="0"/>
                  </a:lnTo>
                  <a:lnTo>
                    <a:pt x="9317228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14400" y="6722269"/>
            <a:ext cx="6987921" cy="14288"/>
            <a:chOff x="0" y="0"/>
            <a:chExt cx="9317228" cy="190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317228" cy="19050"/>
            </a:xfrm>
            <a:custGeom>
              <a:avLst/>
              <a:gdLst/>
              <a:ahLst/>
              <a:cxnLst/>
              <a:rect l="l" t="t" r="r" b="b"/>
              <a:pathLst>
                <a:path w="9317228" h="19050">
                  <a:moveTo>
                    <a:pt x="0" y="0"/>
                  </a:moveTo>
                  <a:lnTo>
                    <a:pt x="9317228" y="0"/>
                  </a:lnTo>
                  <a:lnTo>
                    <a:pt x="93172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14400" y="5450681"/>
            <a:ext cx="6987921" cy="14288"/>
            <a:chOff x="0" y="0"/>
            <a:chExt cx="9317228" cy="190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317228" cy="19050"/>
            </a:xfrm>
            <a:custGeom>
              <a:avLst/>
              <a:gdLst/>
              <a:ahLst/>
              <a:cxnLst/>
              <a:rect l="l" t="t" r="r" b="b"/>
              <a:pathLst>
                <a:path w="9317228" h="19050">
                  <a:moveTo>
                    <a:pt x="0" y="0"/>
                  </a:moveTo>
                  <a:lnTo>
                    <a:pt x="9317228" y="0"/>
                  </a:lnTo>
                  <a:lnTo>
                    <a:pt x="93172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14400" y="5450681"/>
            <a:ext cx="57150" cy="1285875"/>
            <a:chOff x="0" y="0"/>
            <a:chExt cx="76200" cy="17145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200" cy="1714500"/>
            </a:xfrm>
            <a:custGeom>
              <a:avLst/>
              <a:gdLst/>
              <a:ahLst/>
              <a:cxnLst/>
              <a:rect l="l" t="t" r="r" b="b"/>
              <a:pathLst>
                <a:path w="76200" h="1714500">
                  <a:moveTo>
                    <a:pt x="0" y="0"/>
                  </a:moveTo>
                  <a:lnTo>
                    <a:pt x="76200" y="0"/>
                  </a:lnTo>
                  <a:lnTo>
                    <a:pt x="762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888034" y="5450681"/>
            <a:ext cx="14288" cy="1285875"/>
            <a:chOff x="0" y="0"/>
            <a:chExt cx="19050" cy="17145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050" cy="1714500"/>
            </a:xfrm>
            <a:custGeom>
              <a:avLst/>
              <a:gdLst/>
              <a:ahLst/>
              <a:cxnLst/>
              <a:rect l="l" t="t" r="r" b="b"/>
              <a:pathLst>
                <a:path w="19050" h="1714500">
                  <a:moveTo>
                    <a:pt x="0" y="0"/>
                  </a:moveTo>
                  <a:lnTo>
                    <a:pt x="19050" y="0"/>
                  </a:lnTo>
                  <a:lnTo>
                    <a:pt x="1905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14400" y="6908006"/>
            <a:ext cx="6987921" cy="1285875"/>
            <a:chOff x="0" y="0"/>
            <a:chExt cx="9317228" cy="17145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317228" cy="1714500"/>
            </a:xfrm>
            <a:custGeom>
              <a:avLst/>
              <a:gdLst/>
              <a:ahLst/>
              <a:cxnLst/>
              <a:rect l="l" t="t" r="r" b="b"/>
              <a:pathLst>
                <a:path w="9317228" h="1714500">
                  <a:moveTo>
                    <a:pt x="0" y="0"/>
                  </a:moveTo>
                  <a:lnTo>
                    <a:pt x="9317228" y="0"/>
                  </a:lnTo>
                  <a:lnTo>
                    <a:pt x="9317228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914400" y="8179594"/>
            <a:ext cx="6987921" cy="14288"/>
            <a:chOff x="0" y="0"/>
            <a:chExt cx="9317228" cy="190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317228" cy="19050"/>
            </a:xfrm>
            <a:custGeom>
              <a:avLst/>
              <a:gdLst/>
              <a:ahLst/>
              <a:cxnLst/>
              <a:rect l="l" t="t" r="r" b="b"/>
              <a:pathLst>
                <a:path w="9317228" h="19050">
                  <a:moveTo>
                    <a:pt x="0" y="0"/>
                  </a:moveTo>
                  <a:lnTo>
                    <a:pt x="9317228" y="0"/>
                  </a:lnTo>
                  <a:lnTo>
                    <a:pt x="93172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14400" y="6908006"/>
            <a:ext cx="6987921" cy="14288"/>
            <a:chOff x="0" y="0"/>
            <a:chExt cx="9317228" cy="190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17228" cy="19050"/>
            </a:xfrm>
            <a:custGeom>
              <a:avLst/>
              <a:gdLst/>
              <a:ahLst/>
              <a:cxnLst/>
              <a:rect l="l" t="t" r="r" b="b"/>
              <a:pathLst>
                <a:path w="9317228" h="19050">
                  <a:moveTo>
                    <a:pt x="0" y="0"/>
                  </a:moveTo>
                  <a:lnTo>
                    <a:pt x="9317228" y="0"/>
                  </a:lnTo>
                  <a:lnTo>
                    <a:pt x="93172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14400" y="6908006"/>
            <a:ext cx="57150" cy="1285875"/>
            <a:chOff x="0" y="0"/>
            <a:chExt cx="76200" cy="17145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6200" cy="1714500"/>
            </a:xfrm>
            <a:custGeom>
              <a:avLst/>
              <a:gdLst/>
              <a:ahLst/>
              <a:cxnLst/>
              <a:rect l="l" t="t" r="r" b="b"/>
              <a:pathLst>
                <a:path w="76200" h="1714500">
                  <a:moveTo>
                    <a:pt x="0" y="0"/>
                  </a:moveTo>
                  <a:lnTo>
                    <a:pt x="76200" y="0"/>
                  </a:lnTo>
                  <a:lnTo>
                    <a:pt x="762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7888034" y="6908006"/>
            <a:ext cx="14288" cy="1285875"/>
            <a:chOff x="0" y="0"/>
            <a:chExt cx="19050" cy="17145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050" cy="1714500"/>
            </a:xfrm>
            <a:custGeom>
              <a:avLst/>
              <a:gdLst/>
              <a:ahLst/>
              <a:cxnLst/>
              <a:rect l="l" t="t" r="r" b="b"/>
              <a:pathLst>
                <a:path w="19050" h="1714500">
                  <a:moveTo>
                    <a:pt x="0" y="0"/>
                  </a:moveTo>
                  <a:lnTo>
                    <a:pt x="19050" y="0"/>
                  </a:lnTo>
                  <a:lnTo>
                    <a:pt x="1905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914400" y="676275"/>
            <a:ext cx="173736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04.1 TRIỂN KHAI GIÁM SÁT THỜI GIAN THỰC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4400" y="1028700"/>
            <a:ext cx="1737360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QUY TRÌNH GIÁM SÁT CA THI TRỰC TIẾP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4400" y="9334500"/>
            <a:ext cx="3339703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SOES — Giám sát trực tiếp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816138" y="9334500"/>
            <a:ext cx="3196828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vi-VN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Phát hiện, cảnh báo và lưu bằng chứng</a:t>
            </a:r>
            <a:endParaRPr lang="en-US" sz="1575" b="1">
              <a:solidFill>
                <a:srgbClr val="2563E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171575" y="2726531"/>
            <a:ext cx="6616446" cy="18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vi-VN" sz="1237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BƯỚC 1</a:t>
            </a:r>
            <a:endParaRPr lang="en-US" sz="1237" b="1">
              <a:solidFill>
                <a:srgbClr val="2563E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71575" y="4183856"/>
            <a:ext cx="6616446" cy="18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vi-VN" sz="1237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BƯỚC 2</a:t>
            </a:r>
            <a:endParaRPr lang="en-US" sz="1237" b="1">
              <a:solidFill>
                <a:srgbClr val="0F172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171575" y="5641181"/>
            <a:ext cx="6616446" cy="18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vi-VN" sz="1237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BƯỚC 3</a:t>
            </a:r>
            <a:endParaRPr lang="en-US" sz="1237" b="1">
              <a:solidFill>
                <a:srgbClr val="0F172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71575" y="7098506"/>
            <a:ext cx="6616446" cy="18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vi-VN" sz="1237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BƯỚC 4</a:t>
            </a:r>
            <a:endParaRPr lang="en-US" sz="1237" b="1">
              <a:solidFill>
                <a:srgbClr val="DC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228725" y="3059906"/>
            <a:ext cx="2119759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Khởi tạo phiên giám sát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28725" y="3369469"/>
            <a:ext cx="4449217" cy="44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Kiểm tra webcam, chia sẻ màn hình và trạng thái toàn màn hình.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28725" y="4517231"/>
            <a:ext cx="1941165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vi-VN" sz="1687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Phát hiện bất thường</a:t>
            </a:r>
            <a:endParaRPr lang="en-US" sz="1687" b="1">
              <a:solidFill>
                <a:srgbClr val="0F172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228725" y="4826794"/>
            <a:ext cx="8002676" cy="2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Ghi nhận chuyển tab, mất khuôn mặt, nhiều khuôn mặt và điện thoại.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28725" y="5974556"/>
            <a:ext cx="264408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Cảnh báo thời gian thực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28725" y="6284119"/>
            <a:ext cx="8002676" cy="2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Socket.IO đồng bộ trạng thái và vi phạm đến giao diện giảng viên.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28725" y="7431881"/>
            <a:ext cx="2120057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vi-VN" sz="1687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Lưu bằng chứng và xử lý</a:t>
            </a:r>
            <a:endParaRPr lang="en-US" sz="1687" b="1">
              <a:solidFill>
                <a:srgbClr val="0F172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228725" y="7741444"/>
            <a:ext cx="8002676" cy="2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vi-VN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MinIO lưu ảnh bằng chứng để giảng viên rà soát và xử lý vi phạm.</a:t>
            </a:r>
            <a:endParaRPr lang="en-US" sz="1462">
              <a:solidFill>
                <a:srgbClr val="64748B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30934" y="2636044"/>
            <a:ext cx="9156944" cy="5457825"/>
            <a:chOff x="0" y="0"/>
            <a:chExt cx="12209259" cy="7277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09272" cy="7277100"/>
            </a:xfrm>
            <a:custGeom>
              <a:avLst/>
              <a:gdLst/>
              <a:ahLst/>
              <a:cxnLst/>
              <a:rect l="l" t="t" r="r" b="b"/>
              <a:pathLst>
                <a:path w="12209272" h="7277100">
                  <a:moveTo>
                    <a:pt x="0" y="306324"/>
                  </a:moveTo>
                  <a:cubicBezTo>
                    <a:pt x="0" y="137160"/>
                    <a:pt x="137160" y="0"/>
                    <a:pt x="306324" y="0"/>
                  </a:cubicBezTo>
                  <a:lnTo>
                    <a:pt x="11902948" y="0"/>
                  </a:lnTo>
                  <a:cubicBezTo>
                    <a:pt x="12072112" y="0"/>
                    <a:pt x="12209272" y="137160"/>
                    <a:pt x="12209272" y="306324"/>
                  </a:cubicBezTo>
                  <a:lnTo>
                    <a:pt x="12209272" y="6970776"/>
                  </a:lnTo>
                  <a:cubicBezTo>
                    <a:pt x="12209272" y="7139940"/>
                    <a:pt x="12072112" y="7277100"/>
                    <a:pt x="11902948" y="7277100"/>
                  </a:cubicBezTo>
                  <a:lnTo>
                    <a:pt x="306324" y="7277100"/>
                  </a:lnTo>
                  <a:cubicBezTo>
                    <a:pt x="137160" y="7277100"/>
                    <a:pt x="0" y="7139940"/>
                    <a:pt x="0" y="6970776"/>
                  </a:cubicBezTo>
                  <a:close/>
                </a:path>
              </a:pathLst>
            </a:custGeom>
            <a:blipFill>
              <a:blip r:embed="rId2"/>
              <a:stretch>
                <a:fillRect l="-5703" r="-5703"/>
              </a:stretch>
            </a:blipFill>
            <a:ln w="28575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9101138"/>
            <a:ext cx="16459200" cy="14288"/>
            <a:chOff x="0" y="0"/>
            <a:chExt cx="219456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9050"/>
            </a:xfrm>
            <a:custGeom>
              <a:avLst/>
              <a:gdLst/>
              <a:ahLst/>
              <a:cxnLst/>
              <a:rect l="l" t="t" r="r" b="b"/>
              <a:pathLst>
                <a:path w="21945600" h="1905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07256" y="3389262"/>
            <a:ext cx="7002208" cy="1868538"/>
            <a:chOff x="0" y="0"/>
            <a:chExt cx="9336278" cy="24913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36278" cy="2491486"/>
            </a:xfrm>
            <a:custGeom>
              <a:avLst/>
              <a:gdLst/>
              <a:ahLst/>
              <a:cxnLst/>
              <a:rect l="l" t="t" r="r" b="b"/>
              <a:pathLst>
                <a:path w="9336278" h="2491486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9105900" y="0"/>
                  </a:lnTo>
                  <a:cubicBezTo>
                    <a:pt x="9233154" y="0"/>
                    <a:pt x="9336278" y="103124"/>
                    <a:pt x="9336278" y="230378"/>
                  </a:cubicBezTo>
                  <a:lnTo>
                    <a:pt x="9336278" y="2261108"/>
                  </a:lnTo>
                  <a:cubicBezTo>
                    <a:pt x="9336278" y="2388362"/>
                    <a:pt x="9233154" y="2491486"/>
                    <a:pt x="9105900" y="2491486"/>
                  </a:cubicBezTo>
                  <a:lnTo>
                    <a:pt x="230378" y="2491486"/>
                  </a:lnTo>
                  <a:cubicBezTo>
                    <a:pt x="103124" y="2491359"/>
                    <a:pt x="0" y="2388235"/>
                    <a:pt x="0" y="226098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07256" y="5472112"/>
            <a:ext cx="7002208" cy="1868538"/>
            <a:chOff x="0" y="0"/>
            <a:chExt cx="9336278" cy="24913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36278" cy="2491486"/>
            </a:xfrm>
            <a:custGeom>
              <a:avLst/>
              <a:gdLst/>
              <a:ahLst/>
              <a:cxnLst/>
              <a:rect l="l" t="t" r="r" b="b"/>
              <a:pathLst>
                <a:path w="9336278" h="2491486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9105900" y="0"/>
                  </a:lnTo>
                  <a:cubicBezTo>
                    <a:pt x="9233154" y="0"/>
                    <a:pt x="9336278" y="103124"/>
                    <a:pt x="9336278" y="230378"/>
                  </a:cubicBezTo>
                  <a:lnTo>
                    <a:pt x="9336278" y="2261108"/>
                  </a:lnTo>
                  <a:cubicBezTo>
                    <a:pt x="9336278" y="2388362"/>
                    <a:pt x="9233154" y="2491486"/>
                    <a:pt x="9105900" y="2491486"/>
                  </a:cubicBezTo>
                  <a:lnTo>
                    <a:pt x="230378" y="2491486"/>
                  </a:lnTo>
                  <a:cubicBezTo>
                    <a:pt x="103124" y="2491359"/>
                    <a:pt x="0" y="2388235"/>
                    <a:pt x="0" y="226098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14438" y="3739305"/>
            <a:ext cx="257175" cy="228600"/>
            <a:chOff x="0" y="0"/>
            <a:chExt cx="342900" cy="3048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125" b="-3125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14438" y="5822156"/>
            <a:ext cx="200025" cy="228600"/>
            <a:chOff x="0" y="0"/>
            <a:chExt cx="266700" cy="3048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125" b="-312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14400" y="676275"/>
            <a:ext cx="173736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04.2 TRIỂN KHAI AI HỖ TRỢ SINH CÂU HỎI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1028700"/>
            <a:ext cx="1737360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QUY TRÌNH TỪ TÀI LIỆU ĐẾN CÂU HỎI NHÁP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" y="9334500"/>
            <a:ext cx="2160984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SOES — Mô-đun 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30412" y="9334500"/>
            <a:ext cx="3303984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Sinh câu hỏi có cấu trúc và kiểm tra đầu ra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2087" y="3677393"/>
            <a:ext cx="8136407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7C3AED"/>
                </a:solidFill>
                <a:latin typeface="Arimo Bold"/>
                <a:ea typeface="Arimo Bold"/>
                <a:cs typeface="Arimo Bold"/>
                <a:sym typeface="Arimo Bold"/>
              </a:rPr>
              <a:t>Sinh câu hỏi từ tài liệu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4438" y="4063155"/>
            <a:ext cx="6530721" cy="53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vi-VN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Giảng viên chọn tài liệu PDF hoặc Word, cấu hình loại câu hỏi, độ khó và số lượng trước khi gửi yêu cầu đến Gemini.</a:t>
            </a:r>
            <a:endParaRPr lang="en-US" sz="1575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23987" y="5760244"/>
            <a:ext cx="8174507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vi-VN" sz="1800" b="1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Kiểm soát chất lượng đầu ra</a:t>
            </a:r>
            <a:endParaRPr lang="en-US" sz="1800" b="1">
              <a:solidFill>
                <a:srgbClr val="05966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4438" y="6146006"/>
            <a:ext cx="6530721" cy="53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vi-VN" sz="152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Hệ thống kiểm tra số lượng, loại câu hỏi, độ khó và cấu trúc đáp án trước khi lưu thành câu hỏi nháp.</a:t>
            </a:r>
            <a:endParaRPr lang="en-US" sz="1520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30934" y="2636044"/>
            <a:ext cx="9156944" cy="5457825"/>
            <a:chOff x="0" y="0"/>
            <a:chExt cx="12209259" cy="7277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09272" cy="7277100"/>
            </a:xfrm>
            <a:custGeom>
              <a:avLst/>
              <a:gdLst/>
              <a:ahLst/>
              <a:cxnLst/>
              <a:rect l="l" t="t" r="r" b="b"/>
              <a:pathLst>
                <a:path w="12209272" h="7277100">
                  <a:moveTo>
                    <a:pt x="0" y="306324"/>
                  </a:moveTo>
                  <a:cubicBezTo>
                    <a:pt x="0" y="137160"/>
                    <a:pt x="137160" y="0"/>
                    <a:pt x="306324" y="0"/>
                  </a:cubicBezTo>
                  <a:lnTo>
                    <a:pt x="11902948" y="0"/>
                  </a:lnTo>
                  <a:cubicBezTo>
                    <a:pt x="12072112" y="0"/>
                    <a:pt x="12209272" y="137160"/>
                    <a:pt x="12209272" y="306324"/>
                  </a:cubicBezTo>
                  <a:lnTo>
                    <a:pt x="12209272" y="6970776"/>
                  </a:lnTo>
                  <a:cubicBezTo>
                    <a:pt x="12209272" y="7139940"/>
                    <a:pt x="12072112" y="7277100"/>
                    <a:pt x="11902948" y="7277100"/>
                  </a:cubicBezTo>
                  <a:lnTo>
                    <a:pt x="306324" y="7277100"/>
                  </a:lnTo>
                  <a:cubicBezTo>
                    <a:pt x="137160" y="7277100"/>
                    <a:pt x="0" y="7139940"/>
                    <a:pt x="0" y="6970776"/>
                  </a:cubicBezTo>
                  <a:close/>
                </a:path>
              </a:pathLst>
            </a:custGeom>
            <a:blipFill>
              <a:blip r:embed="rId2"/>
              <a:stretch>
                <a:fillRect l="-5703" r="-5703"/>
              </a:stretch>
            </a:blipFill>
            <a:ln w="28575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9101138"/>
            <a:ext cx="16459200" cy="14288"/>
            <a:chOff x="0" y="0"/>
            <a:chExt cx="219456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9050"/>
            </a:xfrm>
            <a:custGeom>
              <a:avLst/>
              <a:gdLst/>
              <a:ahLst/>
              <a:cxnLst/>
              <a:rect l="l" t="t" r="r" b="b"/>
              <a:pathLst>
                <a:path w="21945600" h="1905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07256" y="2878931"/>
            <a:ext cx="7002208" cy="1514475"/>
            <a:chOff x="0" y="0"/>
            <a:chExt cx="9336278" cy="2019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36278" cy="2019300"/>
            </a:xfrm>
            <a:custGeom>
              <a:avLst/>
              <a:gdLst/>
              <a:ahLst/>
              <a:cxnLst/>
              <a:rect l="l" t="t" r="r" b="b"/>
              <a:pathLst>
                <a:path w="9336278" h="201930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9105519" y="0"/>
                  </a:lnTo>
                  <a:cubicBezTo>
                    <a:pt x="9233027" y="0"/>
                    <a:pt x="9336278" y="103378"/>
                    <a:pt x="9336278" y="230759"/>
                  </a:cubicBezTo>
                  <a:lnTo>
                    <a:pt x="9336278" y="1788541"/>
                  </a:lnTo>
                  <a:cubicBezTo>
                    <a:pt x="9336278" y="1916049"/>
                    <a:pt x="9232900" y="2019300"/>
                    <a:pt x="9105519" y="2019300"/>
                  </a:cubicBezTo>
                  <a:lnTo>
                    <a:pt x="230759" y="2019300"/>
                  </a:lnTo>
                  <a:cubicBezTo>
                    <a:pt x="103378" y="2019300"/>
                    <a:pt x="0" y="1915922"/>
                    <a:pt x="0" y="178854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07256" y="4607719"/>
            <a:ext cx="7002208" cy="1514475"/>
            <a:chOff x="0" y="0"/>
            <a:chExt cx="9336278" cy="2019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36278" cy="2019300"/>
            </a:xfrm>
            <a:custGeom>
              <a:avLst/>
              <a:gdLst/>
              <a:ahLst/>
              <a:cxnLst/>
              <a:rect l="l" t="t" r="r" b="b"/>
              <a:pathLst>
                <a:path w="9336278" h="201930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9105519" y="0"/>
                  </a:lnTo>
                  <a:cubicBezTo>
                    <a:pt x="9233027" y="0"/>
                    <a:pt x="9336278" y="103378"/>
                    <a:pt x="9336278" y="230759"/>
                  </a:cubicBezTo>
                  <a:lnTo>
                    <a:pt x="9336278" y="1788541"/>
                  </a:lnTo>
                  <a:cubicBezTo>
                    <a:pt x="9336278" y="1916049"/>
                    <a:pt x="9232900" y="2019300"/>
                    <a:pt x="9105519" y="2019300"/>
                  </a:cubicBezTo>
                  <a:lnTo>
                    <a:pt x="230759" y="2019300"/>
                  </a:lnTo>
                  <a:cubicBezTo>
                    <a:pt x="103378" y="2019300"/>
                    <a:pt x="0" y="1915922"/>
                    <a:pt x="0" y="178854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07256" y="6336506"/>
            <a:ext cx="7002208" cy="1514475"/>
            <a:chOff x="0" y="0"/>
            <a:chExt cx="9336278" cy="201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36278" cy="2019300"/>
            </a:xfrm>
            <a:custGeom>
              <a:avLst/>
              <a:gdLst/>
              <a:ahLst/>
              <a:cxnLst/>
              <a:rect l="l" t="t" r="r" b="b"/>
              <a:pathLst>
                <a:path w="9336278" h="201930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9105519" y="0"/>
                  </a:lnTo>
                  <a:cubicBezTo>
                    <a:pt x="9233027" y="0"/>
                    <a:pt x="9336278" y="103378"/>
                    <a:pt x="9336278" y="230759"/>
                  </a:cubicBezTo>
                  <a:lnTo>
                    <a:pt x="9336278" y="1788541"/>
                  </a:lnTo>
                  <a:cubicBezTo>
                    <a:pt x="9336278" y="1916049"/>
                    <a:pt x="9232900" y="2019300"/>
                    <a:pt x="9105519" y="2019300"/>
                  </a:cubicBezTo>
                  <a:lnTo>
                    <a:pt x="230759" y="2019300"/>
                  </a:lnTo>
                  <a:cubicBezTo>
                    <a:pt x="103378" y="2019300"/>
                    <a:pt x="0" y="1915922"/>
                    <a:pt x="0" y="1788541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14438" y="3228975"/>
            <a:ext cx="285750" cy="228600"/>
            <a:chOff x="0" y="0"/>
            <a:chExt cx="381000" cy="3048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14438" y="4957762"/>
            <a:ext cx="257175" cy="228600"/>
            <a:chOff x="0" y="0"/>
            <a:chExt cx="342900" cy="3048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214438" y="6686550"/>
            <a:ext cx="257175" cy="228600"/>
            <a:chOff x="0" y="0"/>
            <a:chExt cx="342900" cy="3048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14400" y="676275"/>
            <a:ext cx="173736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04.3 TRIỂN KHAI CHẤM BÀI LẬP TRÌNH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" y="1028700"/>
            <a:ext cx="1737360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MONACO EDITOR VÀ JUDGE0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" y="9334500"/>
            <a:ext cx="3339703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SOES — Chấm bài tự động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30462" y="9334500"/>
            <a:ext cx="280392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Thực thi theo test case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1138" y="3167062"/>
            <a:ext cx="8117357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Trình soạn thảo Monaco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4438" y="3562350"/>
            <a:ext cx="653072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Cung cấp tô màu cú pháp và trải nghiệm soạn thảo mã nguồn trực tiếp trong trình duyệt.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2088" y="4895850"/>
            <a:ext cx="8136407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Thực thi trên Judge0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4438" y="5291137"/>
            <a:ext cx="6530721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Chạy mã nguồn với test case công khai và ẩn, đồng thời kiểm soát thời gian và bộ nhớ.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2088" y="6624638"/>
            <a:ext cx="8136407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D97706"/>
                </a:solidFill>
                <a:latin typeface="Arimo Bold"/>
                <a:ea typeface="Arimo Bold"/>
                <a:cs typeface="Arimo Bold"/>
                <a:sym typeface="Arimo Bold"/>
              </a:rPr>
              <a:t>Phúc khảo và điều chỉnh điểm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4438" y="7019925"/>
            <a:ext cx="6530721" cy="47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vi-VN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Sinh viên gửi yêu cầu; giảng viên xem lại bài, phản hồi và lưu lịch sử xử lý.</a:t>
            </a:r>
            <a:endParaRPr lang="en-US" sz="1575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7256" y="8122444"/>
            <a:ext cx="16473488" cy="1371600"/>
            <a:chOff x="0" y="0"/>
            <a:chExt cx="21964650" cy="182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64650" cy="1828800"/>
            </a:xfrm>
            <a:custGeom>
              <a:avLst/>
              <a:gdLst/>
              <a:ahLst/>
              <a:cxnLst/>
              <a:rect l="l" t="t" r="r" b="b"/>
              <a:pathLst>
                <a:path w="21964650" h="1828800">
                  <a:moveTo>
                    <a:pt x="0" y="231013"/>
                  </a:moveTo>
                  <a:cubicBezTo>
                    <a:pt x="0" y="103378"/>
                    <a:pt x="103378" y="0"/>
                    <a:pt x="231013" y="0"/>
                  </a:cubicBezTo>
                  <a:lnTo>
                    <a:pt x="21733638" y="0"/>
                  </a:lnTo>
                  <a:cubicBezTo>
                    <a:pt x="21861273" y="0"/>
                    <a:pt x="21964650" y="103378"/>
                    <a:pt x="21964650" y="231013"/>
                  </a:cubicBezTo>
                  <a:lnTo>
                    <a:pt x="21964650" y="1597787"/>
                  </a:lnTo>
                  <a:cubicBezTo>
                    <a:pt x="21964650" y="1725422"/>
                    <a:pt x="21861273" y="1828800"/>
                    <a:pt x="21733638" y="1828800"/>
                  </a:cubicBezTo>
                  <a:lnTo>
                    <a:pt x="231013" y="1828800"/>
                  </a:lnTo>
                  <a:cubicBezTo>
                    <a:pt x="103378" y="1828800"/>
                    <a:pt x="0" y="1725422"/>
                    <a:pt x="0" y="1597787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07256" y="3800475"/>
            <a:ext cx="8015288" cy="2343150"/>
            <a:chOff x="0" y="0"/>
            <a:chExt cx="10687050" cy="3124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87050" cy="3124200"/>
            </a:xfrm>
            <a:custGeom>
              <a:avLst/>
              <a:gdLst/>
              <a:ahLst/>
              <a:cxnLst/>
              <a:rect l="l" t="t" r="r" b="b"/>
              <a:pathLst>
                <a:path w="10687050" h="3124200">
                  <a:moveTo>
                    <a:pt x="0" y="306578"/>
                  </a:moveTo>
                  <a:cubicBezTo>
                    <a:pt x="0" y="137287"/>
                    <a:pt x="137287" y="0"/>
                    <a:pt x="306578" y="0"/>
                  </a:cubicBezTo>
                  <a:lnTo>
                    <a:pt x="10380472" y="0"/>
                  </a:lnTo>
                  <a:cubicBezTo>
                    <a:pt x="10549763" y="0"/>
                    <a:pt x="10687050" y="137287"/>
                    <a:pt x="10687050" y="306578"/>
                  </a:cubicBezTo>
                  <a:lnTo>
                    <a:pt x="10687050" y="2817622"/>
                  </a:lnTo>
                  <a:cubicBezTo>
                    <a:pt x="10687050" y="2986913"/>
                    <a:pt x="10549763" y="3124200"/>
                    <a:pt x="10380472" y="3124200"/>
                  </a:cubicBezTo>
                  <a:lnTo>
                    <a:pt x="306578" y="3124200"/>
                  </a:lnTo>
                  <a:cubicBezTo>
                    <a:pt x="137287" y="3124200"/>
                    <a:pt x="0" y="2986913"/>
                    <a:pt x="0" y="2817622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365456" y="3671888"/>
            <a:ext cx="8015288" cy="2600325"/>
            <a:chOff x="0" y="0"/>
            <a:chExt cx="10687050" cy="3467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87050" cy="3467100"/>
            </a:xfrm>
            <a:custGeom>
              <a:avLst/>
              <a:gdLst/>
              <a:ahLst/>
              <a:cxnLst/>
              <a:rect l="l" t="t" r="r" b="b"/>
              <a:pathLst>
                <a:path w="10687050" h="3467100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10380599" y="0"/>
                  </a:lnTo>
                  <a:cubicBezTo>
                    <a:pt x="10549890" y="0"/>
                    <a:pt x="10687050" y="137160"/>
                    <a:pt x="10687050" y="306451"/>
                  </a:cubicBezTo>
                  <a:lnTo>
                    <a:pt x="10687050" y="3160649"/>
                  </a:lnTo>
                  <a:cubicBezTo>
                    <a:pt x="10687050" y="3329940"/>
                    <a:pt x="10549890" y="3467100"/>
                    <a:pt x="10380599" y="3467100"/>
                  </a:cubicBezTo>
                  <a:lnTo>
                    <a:pt x="306451" y="3467100"/>
                  </a:lnTo>
                  <a:cubicBezTo>
                    <a:pt x="137160" y="3467100"/>
                    <a:pt x="0" y="3329940"/>
                    <a:pt x="0" y="3160649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328738" y="4279106"/>
            <a:ext cx="257175" cy="257175"/>
            <a:chOff x="0" y="0"/>
            <a:chExt cx="342900" cy="3429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77" b="-277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786938" y="4150519"/>
            <a:ext cx="257175" cy="257175"/>
            <a:chOff x="0" y="0"/>
            <a:chExt cx="342900" cy="3429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77" b="-2777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14400" y="1152525"/>
            <a:ext cx="17373600" cy="58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KẾT QUẢ GIAI ĐOẠN HIỆN TẠI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83972" y="8410575"/>
            <a:ext cx="1905595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SOES — BÁO CÁO TIẾN ĐỘ KHÓA LUẬN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11473" y="8896350"/>
            <a:ext cx="146506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GIAI ĐOẠN HIỆN TẠI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6388" y="4212431"/>
            <a:ext cx="916602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Đã hoàn thành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34588" y="4083844"/>
            <a:ext cx="825341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59E0B"/>
                </a:solidFill>
                <a:latin typeface="Arimo Bold"/>
                <a:ea typeface="Arimo Bold"/>
                <a:cs typeface="Arimo Bold"/>
                <a:sym typeface="Arimo Bold"/>
              </a:rPr>
              <a:t>Đang hoàn thiện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8738" y="4712494"/>
            <a:ext cx="8965406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Hoàn thiện các luồng chính cho quản trị viên, giảng viên và sinh viên.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8738" y="5083969"/>
            <a:ext cx="8965406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Tích hợp Gemini sinh câu hỏi và Judge0 chấm bài lập trình.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8738" y="5455444"/>
            <a:ext cx="8965406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vi-VN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Triển khai giám sát trực tiếp, lưu vi phạm và xử lý phúc khảo.</a:t>
            </a:r>
            <a:endParaRPr lang="en-US" sz="1575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786938" y="4583906"/>
            <a:ext cx="850106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Kiểm thử tải và độ ổn định cho các ca thi đồng thời.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86938" y="4955381"/>
            <a:ext cx="73152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Cải thiện độ chính xác phát hiện điện thoại và khuôn mặt.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86938" y="5584031"/>
            <a:ext cx="850106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vi-VN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Chuẩn hóa tài liệu triển khai, bảo mật và sao lưu dữ liệu.</a:t>
            </a:r>
            <a:endParaRPr lang="en-US" sz="1575">
              <a:solidFill>
                <a:srgbClr val="CBD5E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CLASS DIAGRAM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19050" y="0"/>
            <a:ext cx="18288000" cy="10287000"/>
            <a:chOff x="0" y="0"/>
            <a:chExt cx="24384000" cy="1371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4366" b="-14366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2589057"/>
            <a:ext cx="3929062" cy="2457450"/>
            <a:chOff x="0" y="0"/>
            <a:chExt cx="5238750" cy="32766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5238750" cy="3276600"/>
            </a:xfrm>
            <a:custGeom>
              <a:avLst/>
              <a:gdLst/>
              <a:ahLst/>
              <a:cxnLst/>
              <a:rect l="l" t="t" r="r" b="b"/>
              <a:pathLst>
                <a:path w="5238750" h="3276600">
                  <a:moveTo>
                    <a:pt x="0" y="0"/>
                  </a:moveTo>
                  <a:lnTo>
                    <a:pt x="5238750" y="0"/>
                  </a:lnTo>
                  <a:lnTo>
                    <a:pt x="523875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8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072062" y="2589057"/>
            <a:ext cx="3929062" cy="2457450"/>
            <a:chOff x="0" y="0"/>
            <a:chExt cx="5238750" cy="32766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238750" cy="3276600"/>
            </a:xfrm>
            <a:custGeom>
              <a:avLst/>
              <a:gdLst/>
              <a:ahLst/>
              <a:cxnLst/>
              <a:rect l="l" t="t" r="r" b="b"/>
              <a:pathLst>
                <a:path w="5238750" h="3276600">
                  <a:moveTo>
                    <a:pt x="0" y="0"/>
                  </a:moveTo>
                  <a:lnTo>
                    <a:pt x="5238750" y="0"/>
                  </a:lnTo>
                  <a:lnTo>
                    <a:pt x="523875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8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286875" y="2589057"/>
            <a:ext cx="3929062" cy="2457450"/>
            <a:chOff x="0" y="0"/>
            <a:chExt cx="5238750" cy="32766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238750" cy="3276600"/>
            </a:xfrm>
            <a:custGeom>
              <a:avLst/>
              <a:gdLst/>
              <a:ahLst/>
              <a:cxnLst/>
              <a:rect l="l" t="t" r="r" b="b"/>
              <a:pathLst>
                <a:path w="5238750" h="3276600">
                  <a:moveTo>
                    <a:pt x="0" y="0"/>
                  </a:moveTo>
                  <a:lnTo>
                    <a:pt x="5238750" y="0"/>
                  </a:lnTo>
                  <a:lnTo>
                    <a:pt x="523875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8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501688" y="2589057"/>
            <a:ext cx="3929062" cy="2457450"/>
            <a:chOff x="0" y="0"/>
            <a:chExt cx="5238750" cy="32766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238750" cy="3276600"/>
            </a:xfrm>
            <a:custGeom>
              <a:avLst/>
              <a:gdLst/>
              <a:ahLst/>
              <a:cxnLst/>
              <a:rect l="l" t="t" r="r" b="b"/>
              <a:pathLst>
                <a:path w="5238750" h="3276600">
                  <a:moveTo>
                    <a:pt x="0" y="0"/>
                  </a:moveTo>
                  <a:lnTo>
                    <a:pt x="5238750" y="0"/>
                  </a:lnTo>
                  <a:lnTo>
                    <a:pt x="523875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8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43000" y="2960532"/>
            <a:ext cx="200025" cy="257175"/>
            <a:chOff x="0" y="0"/>
            <a:chExt cx="266700" cy="3429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66700" cy="342900"/>
            </a:xfrm>
            <a:custGeom>
              <a:avLst/>
              <a:gdLst/>
              <a:ahLst/>
              <a:cxnLst/>
              <a:rect l="l" t="t" r="r" b="b"/>
              <a:pathLst>
                <a:path w="266700" h="342900">
                  <a:moveTo>
                    <a:pt x="0" y="0"/>
                  </a:moveTo>
                  <a:lnTo>
                    <a:pt x="266700" y="0"/>
                  </a:lnTo>
                  <a:lnTo>
                    <a:pt x="2667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555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5357812" y="2960532"/>
            <a:ext cx="257175" cy="257175"/>
            <a:chOff x="0" y="0"/>
            <a:chExt cx="342900" cy="342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555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787438" y="2960532"/>
            <a:ext cx="228600" cy="257175"/>
            <a:chOff x="0" y="0"/>
            <a:chExt cx="304800" cy="3429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555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600527" y="4854102"/>
            <a:ext cx="1964065" cy="1964065"/>
            <a:chOff x="0" y="0"/>
            <a:chExt cx="1922894" cy="19228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22907" cy="1922907"/>
            </a:xfrm>
            <a:custGeom>
              <a:avLst/>
              <a:gdLst/>
              <a:ahLst/>
              <a:cxnLst/>
              <a:rect l="l" t="t" r="r" b="b"/>
              <a:pathLst>
                <a:path w="1922907" h="1922907">
                  <a:moveTo>
                    <a:pt x="0" y="0"/>
                  </a:moveTo>
                  <a:lnTo>
                    <a:pt x="1922907" y="0"/>
                  </a:lnTo>
                  <a:lnTo>
                    <a:pt x="1922907" y="1922907"/>
                  </a:lnTo>
                  <a:lnTo>
                    <a:pt x="0" y="1922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9552053" y="2919389"/>
            <a:ext cx="298318" cy="298318"/>
            <a:chOff x="0" y="0"/>
            <a:chExt cx="1922894" cy="19228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22907" cy="1922907"/>
            </a:xfrm>
            <a:custGeom>
              <a:avLst/>
              <a:gdLst/>
              <a:ahLst/>
              <a:cxnLst/>
              <a:rect l="l" t="t" r="r" b="b"/>
              <a:pathLst>
                <a:path w="1922907" h="1922907">
                  <a:moveTo>
                    <a:pt x="0" y="0"/>
                  </a:moveTo>
                  <a:lnTo>
                    <a:pt x="1922907" y="0"/>
                  </a:lnTo>
                  <a:lnTo>
                    <a:pt x="1922907" y="1922907"/>
                  </a:lnTo>
                  <a:lnTo>
                    <a:pt x="0" y="1922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3378203" y="7689853"/>
            <a:ext cx="1565119" cy="1565119"/>
            <a:chOff x="0" y="0"/>
            <a:chExt cx="1922894" cy="192289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22907" cy="1922907"/>
            </a:xfrm>
            <a:custGeom>
              <a:avLst/>
              <a:gdLst/>
              <a:ahLst/>
              <a:cxnLst/>
              <a:rect l="l" t="t" r="r" b="b"/>
              <a:pathLst>
                <a:path w="1922907" h="1922907">
                  <a:moveTo>
                    <a:pt x="0" y="0"/>
                  </a:moveTo>
                  <a:lnTo>
                    <a:pt x="1922907" y="0"/>
                  </a:lnTo>
                  <a:lnTo>
                    <a:pt x="1922907" y="1922907"/>
                  </a:lnTo>
                  <a:lnTo>
                    <a:pt x="0" y="1922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0353302" y="7644758"/>
            <a:ext cx="1655310" cy="1655310"/>
            <a:chOff x="0" y="0"/>
            <a:chExt cx="1922894" cy="192289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22907" cy="1922907"/>
            </a:xfrm>
            <a:custGeom>
              <a:avLst/>
              <a:gdLst/>
              <a:ahLst/>
              <a:cxnLst/>
              <a:rect l="l" t="t" r="r" b="b"/>
              <a:pathLst>
                <a:path w="1922907" h="1922907">
                  <a:moveTo>
                    <a:pt x="0" y="0"/>
                  </a:moveTo>
                  <a:lnTo>
                    <a:pt x="1922907" y="0"/>
                  </a:lnTo>
                  <a:lnTo>
                    <a:pt x="1922907" y="1922907"/>
                  </a:lnTo>
                  <a:lnTo>
                    <a:pt x="0" y="1922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1"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3310065" y="4845842"/>
            <a:ext cx="1678667" cy="1844689"/>
          </a:xfrm>
          <a:custGeom>
            <a:avLst/>
            <a:gdLst/>
            <a:ahLst/>
            <a:cxnLst/>
            <a:rect l="l" t="t" r="r" b="b"/>
            <a:pathLst>
              <a:path w="1678667" h="1844689">
                <a:moveTo>
                  <a:pt x="0" y="0"/>
                </a:moveTo>
                <a:lnTo>
                  <a:pt x="1678667" y="0"/>
                </a:lnTo>
                <a:lnTo>
                  <a:pt x="1678667" y="1844689"/>
                </a:lnTo>
                <a:lnTo>
                  <a:pt x="0" y="18446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088206" y="4911739"/>
            <a:ext cx="1848791" cy="1848791"/>
          </a:xfrm>
          <a:custGeom>
            <a:avLst/>
            <a:gdLst/>
            <a:ahLst/>
            <a:cxnLst/>
            <a:rect l="l" t="t" r="r" b="b"/>
            <a:pathLst>
              <a:path w="1848791" h="1848791">
                <a:moveTo>
                  <a:pt x="0" y="0"/>
                </a:moveTo>
                <a:lnTo>
                  <a:pt x="1848791" y="0"/>
                </a:lnTo>
                <a:lnTo>
                  <a:pt x="1848791" y="1848790"/>
                </a:lnTo>
                <a:lnTo>
                  <a:pt x="0" y="18487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3130208" y="4845842"/>
            <a:ext cx="1771660" cy="1771660"/>
          </a:xfrm>
          <a:custGeom>
            <a:avLst/>
            <a:gdLst/>
            <a:ahLst/>
            <a:cxnLst/>
            <a:rect l="l" t="t" r="r" b="b"/>
            <a:pathLst>
              <a:path w="1771660" h="1771660">
                <a:moveTo>
                  <a:pt x="0" y="0"/>
                </a:moveTo>
                <a:lnTo>
                  <a:pt x="1771659" y="0"/>
                </a:lnTo>
                <a:lnTo>
                  <a:pt x="1771659" y="1771660"/>
                </a:lnTo>
                <a:lnTo>
                  <a:pt x="0" y="177166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273159" y="7614626"/>
            <a:ext cx="1715573" cy="1715573"/>
          </a:xfrm>
          <a:custGeom>
            <a:avLst/>
            <a:gdLst/>
            <a:ahLst/>
            <a:cxnLst/>
            <a:rect l="l" t="t" r="r" b="b"/>
            <a:pathLst>
              <a:path w="1715573" h="1715573">
                <a:moveTo>
                  <a:pt x="0" y="0"/>
                </a:moveTo>
                <a:lnTo>
                  <a:pt x="1715573" y="0"/>
                </a:lnTo>
                <a:lnTo>
                  <a:pt x="1715573" y="1715574"/>
                </a:lnTo>
                <a:lnTo>
                  <a:pt x="0" y="171557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838123" y="7614626"/>
            <a:ext cx="1488874" cy="1488874"/>
          </a:xfrm>
          <a:custGeom>
            <a:avLst/>
            <a:gdLst/>
            <a:ahLst/>
            <a:cxnLst/>
            <a:rect l="l" t="t" r="r" b="b"/>
            <a:pathLst>
              <a:path w="1488874" h="1488874">
                <a:moveTo>
                  <a:pt x="0" y="0"/>
                </a:moveTo>
                <a:lnTo>
                  <a:pt x="1488873" y="0"/>
                </a:lnTo>
                <a:lnTo>
                  <a:pt x="1488873" y="1488874"/>
                </a:lnTo>
                <a:lnTo>
                  <a:pt x="0" y="148887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143000" y="1385888"/>
            <a:ext cx="1710213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ECOSYSTEM (STACK)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4365" y="2931957"/>
            <a:ext cx="3391948" cy="31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/ Client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3000" y="3365759"/>
            <a:ext cx="3357448" cy="1188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 b="1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UI:</a:t>
            </a:r>
            <a:r>
              <a:rPr lang="en-US" sz="1687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React, Tailwind CSS, TanStack Query, Monaco Editor, MediaPipe Tasks Vision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47277" y="2931957"/>
            <a:ext cx="3353848" cy="31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Platform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57812" y="3274857"/>
            <a:ext cx="3357448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 b="1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Platform:</a:t>
            </a:r>
            <a:r>
              <a:rPr lang="en-US" sz="1687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JavaScript, Node.js, Express.js, Zod.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882060" y="2931957"/>
            <a:ext cx="2597795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Realtime &amp; Storage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72625" y="3274838"/>
            <a:ext cx="3357448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Socket.IO, Redis, WebRTC, Supabase, MinIO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057833" y="2931957"/>
            <a:ext cx="3059609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&amp;  Execution Engine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787438" y="3274857"/>
            <a:ext cx="3357448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Gemini SDK, Judge0 CE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47818" y="6744222"/>
            <a:ext cx="869483" cy="51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68883" y="6739397"/>
            <a:ext cx="1419849" cy="532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8"/>
              </a:lnSpc>
            </a:pPr>
            <a:r>
              <a:rPr lang="en-US" sz="2441" b="1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Node.js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390152" y="9274023"/>
            <a:ext cx="1598580" cy="532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Express.js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38123" y="9274023"/>
            <a:ext cx="1726482" cy="532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JavaScript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349575" y="6617502"/>
            <a:ext cx="1976433" cy="532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MediaPipe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349575" y="9274023"/>
            <a:ext cx="1767185" cy="51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834927" y="9274023"/>
            <a:ext cx="1102069" cy="532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Redis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42528" y="6684469"/>
            <a:ext cx="940147" cy="51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8"/>
              </a:lnSpc>
              <a:spcBef>
                <a:spcPct val="0"/>
              </a:spcBef>
            </a:pPr>
            <a:r>
              <a:rPr lang="en-US" sz="2441" b="1" u="none" strike="noStrike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13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MICROSERVICES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57250" y="3578133"/>
            <a:ext cx="5447252" cy="1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21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system is deployed using a decentralized </a:t>
            </a:r>
            <a:r>
              <a:rPr lang="en-US" sz="2100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Microservices</a:t>
            </a:r>
            <a:r>
              <a:rPr lang="en-US" sz="21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pattern for optimal scalability: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7312" y="5128984"/>
            <a:ext cx="4947304" cy="923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</a:pPr>
            <a:r>
              <a:rPr lang="en-US" sz="1950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 Gateway:</a:t>
            </a: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Single entry point for JWT authentication and Rate Limiting.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7312" y="6211729"/>
            <a:ext cx="4947304" cy="140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</a:pPr>
            <a:r>
              <a:rPr lang="en-US" sz="1950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Event-Driven Bus:</a:t>
            </a: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Apache Kafka facilitates asynchronous communication between services.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312" y="7774162"/>
            <a:ext cx="4947304" cy="140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</a:pPr>
            <a:r>
              <a:rPr lang="en-US" sz="1950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Fault Tolerance:</a:t>
            </a: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Resilience4j circuit breakers prevent cascading system failures.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57250" y="5300453"/>
            <a:ext cx="285750" cy="300038"/>
            <a:chOff x="0" y="0"/>
            <a:chExt cx="381000" cy="40005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857250" y="6383179"/>
            <a:ext cx="285750" cy="300038"/>
            <a:chOff x="0" y="0"/>
            <a:chExt cx="381000" cy="40005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857250" y="7945603"/>
            <a:ext cx="285750" cy="300038"/>
            <a:chOff x="0" y="0"/>
            <a:chExt cx="381000" cy="40005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6480191" y="2128838"/>
            <a:ext cx="11572913" cy="7858316"/>
            <a:chOff x="0" y="0"/>
            <a:chExt cx="15430551" cy="1047775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430500" cy="10477754"/>
            </a:xfrm>
            <a:custGeom>
              <a:avLst/>
              <a:gdLst/>
              <a:ahLst/>
              <a:cxnLst/>
              <a:rect l="l" t="t" r="r" b="b"/>
              <a:pathLst>
                <a:path w="15430500" h="10477754">
                  <a:moveTo>
                    <a:pt x="0" y="0"/>
                  </a:moveTo>
                  <a:lnTo>
                    <a:pt x="15430500" y="0"/>
                  </a:lnTo>
                  <a:lnTo>
                    <a:pt x="15430500" y="10477754"/>
                  </a:lnTo>
                  <a:lnTo>
                    <a:pt x="0" y="1047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01188" y="2564606"/>
            <a:ext cx="7929562" cy="6429375"/>
            <a:chOff x="0" y="0"/>
            <a:chExt cx="10572750" cy="85725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8572500"/>
            </a:xfrm>
            <a:custGeom>
              <a:avLst/>
              <a:gdLst/>
              <a:ahLst/>
              <a:cxnLst/>
              <a:rect l="l" t="t" r="r" b="b"/>
              <a:pathLst>
                <a:path w="10572750" h="8572500">
                  <a:moveTo>
                    <a:pt x="0" y="0"/>
                  </a:moveTo>
                  <a:lnTo>
                    <a:pt x="10572750" y="0"/>
                  </a:lnTo>
                  <a:lnTo>
                    <a:pt x="1057275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2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IOT HARDWARE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09114" y="3815115"/>
            <a:ext cx="8325898" cy="32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Node Architecture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312" y="4605480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MCU:</a:t>
            </a: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ESP32-CAM for processing and Wi-Fi connectivity.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7312" y="5254000"/>
            <a:ext cx="7429500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Sensors:</a:t>
            </a: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DHT11 (Climate), YL-69 (Soil moisture), LDR (Light intensity).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57250" y="4786455"/>
            <a:ext cx="285750" cy="300038"/>
            <a:chOff x="0" y="0"/>
            <a:chExt cx="381000" cy="40005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857250" y="5434975"/>
            <a:ext cx="285750" cy="300038"/>
            <a:chOff x="0" y="0"/>
            <a:chExt cx="381000" cy="4000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501188" y="2722426"/>
            <a:ext cx="2705872" cy="2251872"/>
            <a:chOff x="0" y="0"/>
            <a:chExt cx="3607829" cy="30024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07816" cy="3002534"/>
            </a:xfrm>
            <a:custGeom>
              <a:avLst/>
              <a:gdLst/>
              <a:ahLst/>
              <a:cxnLst/>
              <a:rect l="l" t="t" r="r" b="b"/>
              <a:pathLst>
                <a:path w="3607816" h="3002534">
                  <a:moveTo>
                    <a:pt x="0" y="0"/>
                  </a:moveTo>
                  <a:lnTo>
                    <a:pt x="3607816" y="0"/>
                  </a:lnTo>
                  <a:lnTo>
                    <a:pt x="3607816" y="3002534"/>
                  </a:lnTo>
                  <a:lnTo>
                    <a:pt x="0" y="3002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4072626" y="2495436"/>
            <a:ext cx="2705852" cy="2705852"/>
            <a:chOff x="0" y="0"/>
            <a:chExt cx="3607803" cy="36078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07816" cy="3607816"/>
            </a:xfrm>
            <a:custGeom>
              <a:avLst/>
              <a:gdLst/>
              <a:ahLst/>
              <a:cxnLst/>
              <a:rect l="l" t="t" r="r" b="b"/>
              <a:pathLst>
                <a:path w="3607816" h="3607816">
                  <a:moveTo>
                    <a:pt x="0" y="0"/>
                  </a:moveTo>
                  <a:lnTo>
                    <a:pt x="3607816" y="0"/>
                  </a:lnTo>
                  <a:lnTo>
                    <a:pt x="3607816" y="3607816"/>
                  </a:lnTo>
                  <a:lnTo>
                    <a:pt x="0" y="3607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9726168" y="5306044"/>
            <a:ext cx="3382613" cy="3382613"/>
            <a:chOff x="0" y="0"/>
            <a:chExt cx="4510151" cy="451015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510151" cy="4510151"/>
            </a:xfrm>
            <a:custGeom>
              <a:avLst/>
              <a:gdLst/>
              <a:ahLst/>
              <a:cxnLst/>
              <a:rect l="l" t="t" r="r" b="b"/>
              <a:pathLst>
                <a:path w="4510151" h="4510151">
                  <a:moveTo>
                    <a:pt x="0" y="0"/>
                  </a:moveTo>
                  <a:lnTo>
                    <a:pt x="4510151" y="0"/>
                  </a:lnTo>
                  <a:lnTo>
                    <a:pt x="4510151" y="4510151"/>
                  </a:lnTo>
                  <a:lnTo>
                    <a:pt x="0" y="4510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4048175" y="5356231"/>
            <a:ext cx="3382613" cy="3282267"/>
            <a:chOff x="0" y="0"/>
            <a:chExt cx="4510151" cy="43763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10151" cy="4376293"/>
            </a:xfrm>
            <a:custGeom>
              <a:avLst/>
              <a:gdLst/>
              <a:ahLst/>
              <a:cxnLst/>
              <a:rect l="l" t="t" r="r" b="b"/>
              <a:pathLst>
                <a:path w="4510151" h="4376293">
                  <a:moveTo>
                    <a:pt x="0" y="0"/>
                  </a:moveTo>
                  <a:lnTo>
                    <a:pt x="4510151" y="0"/>
                  </a:lnTo>
                  <a:lnTo>
                    <a:pt x="4510151" y="4376293"/>
                  </a:lnTo>
                  <a:lnTo>
                    <a:pt x="0" y="437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1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9501302" y="4883772"/>
            <a:ext cx="2705852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ESP32-CAM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20573" y="4883772"/>
            <a:ext cx="4009949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YL-69 (Soil Moisture Sensor)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01188" y="8120062"/>
            <a:ext cx="4321797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LDR (Light Dependent Resistor)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47984" y="8120062"/>
            <a:ext cx="3382651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ADS1115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7312" y="6319323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ADC (analog-to-digital converter ):</a:t>
            </a: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ADS1115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57250" y="6500298"/>
            <a:ext cx="285750" cy="300038"/>
            <a:chOff x="0" y="0"/>
            <a:chExt cx="381000" cy="40005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13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NORMALIZATION &amp; AGGREGATION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972050" y="2472919"/>
            <a:ext cx="7172325" cy="1343025"/>
            <a:chOff x="0" y="0"/>
            <a:chExt cx="9563100" cy="1790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63100" cy="1790700"/>
            </a:xfrm>
            <a:custGeom>
              <a:avLst/>
              <a:gdLst/>
              <a:ahLst/>
              <a:cxnLst/>
              <a:rect l="l" t="t" r="r" b="b"/>
              <a:pathLst>
                <a:path w="9563100" h="1790700">
                  <a:moveTo>
                    <a:pt x="0" y="0"/>
                  </a:moveTo>
                  <a:lnTo>
                    <a:pt x="9563100" y="0"/>
                  </a:lnTo>
                  <a:lnTo>
                    <a:pt x="9563100" y="1790700"/>
                  </a:lnTo>
                  <a:lnTo>
                    <a:pt x="0" y="179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57250" y="2580999"/>
            <a:ext cx="3918147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Normalization data for soil moisture and light intensity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41028" y="2773928"/>
            <a:ext cx="5042249" cy="76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R=100 for soil moisture, R=1000 for light intensity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686601" y="8018212"/>
            <a:ext cx="2998318" cy="1236154"/>
            <a:chOff x="0" y="0"/>
            <a:chExt cx="3997757" cy="16482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97706" cy="1648206"/>
            </a:xfrm>
            <a:custGeom>
              <a:avLst/>
              <a:gdLst/>
              <a:ahLst/>
              <a:cxnLst/>
              <a:rect l="l" t="t" r="r" b="b"/>
              <a:pathLst>
                <a:path w="3997706" h="1648206">
                  <a:moveTo>
                    <a:pt x="0" y="0"/>
                  </a:moveTo>
                  <a:lnTo>
                    <a:pt x="3997706" y="0"/>
                  </a:lnTo>
                  <a:lnTo>
                    <a:pt x="3997706" y="1648206"/>
                  </a:lnTo>
                  <a:lnTo>
                    <a:pt x="0" y="1648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171804" y="7531608"/>
            <a:ext cx="4027951" cy="381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5-Minute Aggregation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36960" y="8014745"/>
            <a:ext cx="4357688" cy="1243012"/>
            <a:chOff x="0" y="0"/>
            <a:chExt cx="5810250" cy="16573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810250" cy="1657350"/>
            </a:xfrm>
            <a:custGeom>
              <a:avLst/>
              <a:gdLst/>
              <a:ahLst/>
              <a:cxnLst/>
              <a:rect l="l" t="t" r="r" b="b"/>
              <a:pathLst>
                <a:path w="5810250" h="1657350">
                  <a:moveTo>
                    <a:pt x="0" y="0"/>
                  </a:moveTo>
                  <a:lnTo>
                    <a:pt x="5810250" y="0"/>
                  </a:lnTo>
                  <a:lnTo>
                    <a:pt x="5810250" y="1657350"/>
                  </a:lnTo>
                  <a:lnTo>
                    <a:pt x="0" y="1657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6072511" y="7531608"/>
            <a:ext cx="5286604" cy="381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1-Hour Aggregation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436935" y="8036195"/>
            <a:ext cx="4071938" cy="1200150"/>
            <a:chOff x="0" y="0"/>
            <a:chExt cx="5429250" cy="1600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29250" cy="1600200"/>
            </a:xfrm>
            <a:custGeom>
              <a:avLst/>
              <a:gdLst/>
              <a:ahLst/>
              <a:cxnLst/>
              <a:rect l="l" t="t" r="r" b="b"/>
              <a:pathLst>
                <a:path w="5429250" h="1600200">
                  <a:moveTo>
                    <a:pt x="0" y="0"/>
                  </a:moveTo>
                  <a:lnTo>
                    <a:pt x="5429250" y="0"/>
                  </a:lnTo>
                  <a:lnTo>
                    <a:pt x="542925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1829602" y="7531608"/>
            <a:ext cx="5286604" cy="381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1-Day Aggregation 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116439" y="8357197"/>
            <a:ext cx="988990" cy="585788"/>
            <a:chOff x="0" y="0"/>
            <a:chExt cx="1318654" cy="7810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18641" cy="781050"/>
            </a:xfrm>
            <a:custGeom>
              <a:avLst/>
              <a:gdLst/>
              <a:ahLst/>
              <a:cxnLst/>
              <a:rect l="l" t="t" r="r" b="b"/>
              <a:pathLst>
                <a:path w="1318641" h="781050">
                  <a:moveTo>
                    <a:pt x="0" y="195326"/>
                  </a:moveTo>
                  <a:lnTo>
                    <a:pt x="928116" y="195326"/>
                  </a:lnTo>
                  <a:lnTo>
                    <a:pt x="928116" y="0"/>
                  </a:lnTo>
                  <a:lnTo>
                    <a:pt x="1318641" y="390525"/>
                  </a:lnTo>
                  <a:lnTo>
                    <a:pt x="928116" y="781050"/>
                  </a:lnTo>
                  <a:lnTo>
                    <a:pt x="92811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DCFCE7"/>
            </a:solidFill>
            <a:ln w="14288" cap="sq">
              <a:solidFill>
                <a:srgbClr val="1F497D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1171311" y="8343376"/>
            <a:ext cx="988990" cy="585788"/>
            <a:chOff x="0" y="0"/>
            <a:chExt cx="1318654" cy="7810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18641" cy="781050"/>
            </a:xfrm>
            <a:custGeom>
              <a:avLst/>
              <a:gdLst/>
              <a:ahLst/>
              <a:cxnLst/>
              <a:rect l="l" t="t" r="r" b="b"/>
              <a:pathLst>
                <a:path w="1318641" h="781050">
                  <a:moveTo>
                    <a:pt x="0" y="195326"/>
                  </a:moveTo>
                  <a:lnTo>
                    <a:pt x="928116" y="195326"/>
                  </a:lnTo>
                  <a:lnTo>
                    <a:pt x="928116" y="0"/>
                  </a:lnTo>
                  <a:lnTo>
                    <a:pt x="1318641" y="390525"/>
                  </a:lnTo>
                  <a:lnTo>
                    <a:pt x="928116" y="781050"/>
                  </a:lnTo>
                  <a:lnTo>
                    <a:pt x="92811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DCFCE7"/>
            </a:solidFill>
            <a:ln w="14288" cap="sq">
              <a:solidFill>
                <a:srgbClr val="1F497D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ALERT WORKFLOW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266626" y="2255958"/>
            <a:ext cx="13754738" cy="7741168"/>
            <a:chOff x="0" y="0"/>
            <a:chExt cx="18339651" cy="103215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339688" cy="10321544"/>
            </a:xfrm>
            <a:custGeom>
              <a:avLst/>
              <a:gdLst/>
              <a:ahLst/>
              <a:cxnLst/>
              <a:rect l="l" t="t" r="r" b="b"/>
              <a:pathLst>
                <a:path w="18339688" h="10321544">
                  <a:moveTo>
                    <a:pt x="0" y="0"/>
                  </a:moveTo>
                  <a:lnTo>
                    <a:pt x="18339688" y="0"/>
                  </a:lnTo>
                  <a:lnTo>
                    <a:pt x="18339688" y="10321544"/>
                  </a:lnTo>
                  <a:lnTo>
                    <a:pt x="0" y="1032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RAG PIPELINE - PLAN GENERATION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2020845" y="2255958"/>
            <a:ext cx="5409905" cy="32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Multi-stage RAG (LangGraph)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250" y="8527085"/>
            <a:ext cx="5409905" cy="32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Corrective Rag: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1736" y="8843886"/>
            <a:ext cx="10115102" cy="100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Corrective awareness based on issue evaluation and refinement loop (Max Attempt = 5)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05589" y="2562768"/>
            <a:ext cx="4628702" cy="153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Document retriever: </a:t>
            </a: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Hybrid Search (Dense + Sparse) on Qdrant Vector DB.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05636" y="7143883"/>
            <a:ext cx="4628702" cy="153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Safety Audit Node:</a:t>
            </a: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Double-checks pesticide dosages and Pre-Harvest Interval (PHI) safety.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20979" y="2715168"/>
            <a:ext cx="285750" cy="300038"/>
            <a:chOff x="0" y="0"/>
            <a:chExt cx="381000" cy="40005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2020998" y="7324849"/>
            <a:ext cx="285750" cy="300038"/>
            <a:chOff x="0" y="0"/>
            <a:chExt cx="381000" cy="4000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2405665" y="4074585"/>
            <a:ext cx="4628702" cy="153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Search Node:</a:t>
            </a: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Search trusted sources for information to populate specific plan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20979" y="4255551"/>
            <a:ext cx="285750" cy="300038"/>
            <a:chOff x="0" y="0"/>
            <a:chExt cx="381000" cy="40005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2405636" y="5586412"/>
            <a:ext cx="4628702" cy="153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Safety Audit Node:</a:t>
            </a: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Double-checks pesticide dosages and Pre-Harvest Interval (PHI) safety.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20998" y="5767378"/>
            <a:ext cx="285750" cy="300038"/>
            <a:chOff x="0" y="0"/>
            <a:chExt cx="381000" cy="40005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857136" y="8993953"/>
            <a:ext cx="285750" cy="300038"/>
            <a:chOff x="0" y="0"/>
            <a:chExt cx="381000" cy="40005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857250" y="2271712"/>
            <a:ext cx="10499474" cy="6112497"/>
            <a:chOff x="0" y="0"/>
            <a:chExt cx="13999299" cy="81499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999338" cy="8149971"/>
            </a:xfrm>
            <a:custGeom>
              <a:avLst/>
              <a:gdLst/>
              <a:ahLst/>
              <a:cxnLst/>
              <a:rect l="l" t="t" r="r" b="b"/>
              <a:pathLst>
                <a:path w="13999338" h="8149971">
                  <a:moveTo>
                    <a:pt x="0" y="0"/>
                  </a:moveTo>
                  <a:lnTo>
                    <a:pt x="13999338" y="0"/>
                  </a:lnTo>
                  <a:lnTo>
                    <a:pt x="13999338" y="8149971"/>
                  </a:lnTo>
                  <a:lnTo>
                    <a:pt x="0" y="8149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444" r="-5444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PREPARATION : DATASET &amp; DATA AUGMENT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57250" y="3050829"/>
            <a:ext cx="8325898" cy="39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: RoCoLe dataset + other sources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0799" y="5151958"/>
            <a:ext cx="7929448" cy="236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1950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mobilenetv2 classification: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5 classes: Healthy, Rust, Phoma, Miner, and Red Spider Mite.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Total:                    4000 images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Train:                    3227 images – ~650 images per class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Evaluation:          806 images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" y="6789239"/>
            <a:ext cx="2503351" cy="14402"/>
            <a:chOff x="0" y="0"/>
            <a:chExt cx="3337801" cy="192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360468" y="6789239"/>
            <a:ext cx="5426554" cy="14402"/>
            <a:chOff x="0" y="0"/>
            <a:chExt cx="7235406" cy="192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57250" y="7637783"/>
            <a:ext cx="2503351" cy="14402"/>
            <a:chOff x="0" y="0"/>
            <a:chExt cx="3337801" cy="192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3360468" y="7637783"/>
            <a:ext cx="5426554" cy="14402"/>
            <a:chOff x="0" y="0"/>
            <a:chExt cx="7235406" cy="192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57250" y="8486327"/>
            <a:ext cx="2503351" cy="14402"/>
            <a:chOff x="0" y="0"/>
            <a:chExt cx="3337801" cy="1920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1576999" y="3050810"/>
            <a:ext cx="4062603" cy="39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Augmentation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0799" y="3733476"/>
            <a:ext cx="7929448" cy="923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1950" b="1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yolov8n object detection: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Total: ~1500 images with single_cls = True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61879" y="3944998"/>
            <a:ext cx="3092853" cy="284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Random Flip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Random Rotation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Random Zoom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Random Contrast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Random Brightness</a:t>
            </a:r>
          </a:p>
          <a:p>
            <a:pPr algn="l">
              <a:lnSpc>
                <a:spcPts val="3744"/>
              </a:lnSpc>
            </a:pPr>
            <a:r>
              <a:rPr lang="en-US" sz="19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Mosaic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31783" y="3927224"/>
            <a:ext cx="285750" cy="300038"/>
            <a:chOff x="0" y="0"/>
            <a:chExt cx="381000" cy="4000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931783" y="5288547"/>
            <a:ext cx="285750" cy="300038"/>
            <a:chOff x="0" y="0"/>
            <a:chExt cx="381000" cy="40005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HYPERPARAMS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57250" y="3589934"/>
            <a:ext cx="7400925" cy="3743325"/>
            <a:chOff x="0" y="0"/>
            <a:chExt cx="9867900" cy="4991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7900" cy="4991100"/>
            </a:xfrm>
            <a:custGeom>
              <a:avLst/>
              <a:gdLst/>
              <a:ahLst/>
              <a:cxnLst/>
              <a:rect l="l" t="t" r="r" b="b"/>
              <a:pathLst>
                <a:path w="9867900" h="4991100">
                  <a:moveTo>
                    <a:pt x="0" y="0"/>
                  </a:moveTo>
                  <a:lnTo>
                    <a:pt x="9867900" y="0"/>
                  </a:lnTo>
                  <a:lnTo>
                    <a:pt x="9867900" y="4991100"/>
                  </a:lnTo>
                  <a:lnTo>
                    <a:pt x="0" y="499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805865" y="7379922"/>
            <a:ext cx="3503705" cy="31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F17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Mobilenetv2 hyperparams table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82869" y="6562515"/>
            <a:ext cx="2994746" cy="31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F17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Yolov8 hyperparams table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29743" y="3640407"/>
            <a:ext cx="7900988" cy="2828925"/>
            <a:chOff x="0" y="0"/>
            <a:chExt cx="10534650" cy="3771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34650" cy="3771900"/>
            </a:xfrm>
            <a:custGeom>
              <a:avLst/>
              <a:gdLst/>
              <a:ahLst/>
              <a:cxnLst/>
              <a:rect l="l" t="t" r="r" b="b"/>
              <a:pathLst>
                <a:path w="10534650" h="3771900">
                  <a:moveTo>
                    <a:pt x="0" y="0"/>
                  </a:moveTo>
                  <a:lnTo>
                    <a:pt x="10534650" y="0"/>
                  </a:lnTo>
                  <a:lnTo>
                    <a:pt x="10534650" y="3771900"/>
                  </a:lnTo>
                  <a:lnTo>
                    <a:pt x="0" y="377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3033598"/>
            <a:ext cx="9719348" cy="5467131"/>
            <a:chOff x="0" y="0"/>
            <a:chExt cx="12959131" cy="7289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59080" cy="7289546"/>
            </a:xfrm>
            <a:custGeom>
              <a:avLst/>
              <a:gdLst/>
              <a:ahLst/>
              <a:cxnLst/>
              <a:rect l="l" t="t" r="r" b="b"/>
              <a:pathLst>
                <a:path w="12959080" h="7289546">
                  <a:moveTo>
                    <a:pt x="0" y="0"/>
                  </a:moveTo>
                  <a:lnTo>
                    <a:pt x="12959080" y="0"/>
                  </a:lnTo>
                  <a:lnTo>
                    <a:pt x="12959080" y="7289546"/>
                  </a:lnTo>
                  <a:lnTo>
                    <a:pt x="0" y="7289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100" b="-510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RESULTS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57250" y="6789239"/>
            <a:ext cx="2503351" cy="14402"/>
            <a:chOff x="0" y="0"/>
            <a:chExt cx="3337801" cy="192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360468" y="6789239"/>
            <a:ext cx="5426554" cy="14402"/>
            <a:chOff x="0" y="0"/>
            <a:chExt cx="7235406" cy="192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857250" y="7637783"/>
            <a:ext cx="2503351" cy="14402"/>
            <a:chOff x="0" y="0"/>
            <a:chExt cx="3337801" cy="192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3360468" y="7637783"/>
            <a:ext cx="5426554" cy="14402"/>
            <a:chOff x="0" y="0"/>
            <a:chExt cx="7235406" cy="192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57250" y="8486327"/>
            <a:ext cx="2503351" cy="14402"/>
            <a:chOff x="0" y="0"/>
            <a:chExt cx="3337801" cy="192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360468" y="8486327"/>
            <a:ext cx="5426554" cy="14402"/>
            <a:chOff x="0" y="0"/>
            <a:chExt cx="7235406" cy="1920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4114486" y="8781821"/>
            <a:ext cx="3204896" cy="31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F17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Mobilenetv2 training curves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995679" y="3206477"/>
            <a:ext cx="5958821" cy="5294252"/>
            <a:chOff x="0" y="0"/>
            <a:chExt cx="7945095" cy="70590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945120" cy="7059041"/>
            </a:xfrm>
            <a:custGeom>
              <a:avLst/>
              <a:gdLst/>
              <a:ahLst/>
              <a:cxnLst/>
              <a:rect l="l" t="t" r="r" b="b"/>
              <a:pathLst>
                <a:path w="7945120" h="7059041">
                  <a:moveTo>
                    <a:pt x="0" y="0"/>
                  </a:moveTo>
                  <a:lnTo>
                    <a:pt x="7945120" y="0"/>
                  </a:lnTo>
                  <a:lnTo>
                    <a:pt x="7945120" y="7059041"/>
                  </a:lnTo>
                  <a:lnTo>
                    <a:pt x="0" y="7059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2277458" y="8576929"/>
            <a:ext cx="3395253" cy="31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F17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Mobilenetv2 confusion matrix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RESULTS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857250" y="6789239"/>
            <a:ext cx="2503351" cy="14402"/>
            <a:chOff x="0" y="0"/>
            <a:chExt cx="3337801" cy="192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360468" y="6789239"/>
            <a:ext cx="5426554" cy="14402"/>
            <a:chOff x="0" y="0"/>
            <a:chExt cx="7235406" cy="192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57250" y="7637783"/>
            <a:ext cx="2503351" cy="14402"/>
            <a:chOff x="0" y="0"/>
            <a:chExt cx="3337801" cy="192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360468" y="7637783"/>
            <a:ext cx="5426554" cy="14402"/>
            <a:chOff x="0" y="0"/>
            <a:chExt cx="7235406" cy="192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57250" y="8486327"/>
            <a:ext cx="2503351" cy="14402"/>
            <a:chOff x="0" y="0"/>
            <a:chExt cx="3337801" cy="192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3360468" y="8486327"/>
            <a:ext cx="5426554" cy="14402"/>
            <a:chOff x="0" y="0"/>
            <a:chExt cx="7235406" cy="192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3931539" y="9773517"/>
            <a:ext cx="2585247" cy="31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F17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yolov8 training curves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243116" y="5399884"/>
            <a:ext cx="9962093" cy="4313215"/>
            <a:chOff x="0" y="0"/>
            <a:chExt cx="13282790" cy="57509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282803" cy="5750941"/>
            </a:xfrm>
            <a:custGeom>
              <a:avLst/>
              <a:gdLst/>
              <a:ahLst/>
              <a:cxnLst/>
              <a:rect l="l" t="t" r="r" b="b"/>
              <a:pathLst>
                <a:path w="13282803" h="5750941">
                  <a:moveTo>
                    <a:pt x="0" y="0"/>
                  </a:moveTo>
                  <a:lnTo>
                    <a:pt x="13282803" y="0"/>
                  </a:lnTo>
                  <a:lnTo>
                    <a:pt x="13282803" y="5750941"/>
                  </a:lnTo>
                  <a:lnTo>
                    <a:pt x="0" y="5750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059" r="-7059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0186054" y="6487478"/>
            <a:ext cx="7244696" cy="1767821"/>
            <a:chOff x="0" y="0"/>
            <a:chExt cx="9659595" cy="235709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659620" cy="2357120"/>
            </a:xfrm>
            <a:custGeom>
              <a:avLst/>
              <a:gdLst/>
              <a:ahLst/>
              <a:cxnLst/>
              <a:rect l="l" t="t" r="r" b="b"/>
              <a:pathLst>
                <a:path w="9659620" h="2357120">
                  <a:moveTo>
                    <a:pt x="0" y="0"/>
                  </a:moveTo>
                  <a:lnTo>
                    <a:pt x="9659620" y="0"/>
                  </a:lnTo>
                  <a:lnTo>
                    <a:pt x="9659620" y="2357120"/>
                  </a:lnTo>
                  <a:lnTo>
                    <a:pt x="0" y="2357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2037200" y="8324383"/>
            <a:ext cx="3542405" cy="31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F17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yolov8 training progress table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847850" y="4858102"/>
            <a:ext cx="6204604" cy="31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F17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Mobilenetv2 phase 2 result  with Adam loss function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57250" y="2561044"/>
            <a:ext cx="8185804" cy="2316109"/>
            <a:chOff x="0" y="0"/>
            <a:chExt cx="10914405" cy="308814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14380" cy="3088132"/>
            </a:xfrm>
            <a:custGeom>
              <a:avLst/>
              <a:gdLst/>
              <a:ahLst/>
              <a:cxnLst/>
              <a:rect l="l" t="t" r="r" b="b"/>
              <a:pathLst>
                <a:path w="10914380" h="3088132">
                  <a:moveTo>
                    <a:pt x="0" y="0"/>
                  </a:moveTo>
                  <a:lnTo>
                    <a:pt x="10914380" y="0"/>
                  </a:lnTo>
                  <a:lnTo>
                    <a:pt x="10914380" y="3088132"/>
                  </a:lnTo>
                  <a:lnTo>
                    <a:pt x="0" y="3088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9134246" y="2553167"/>
            <a:ext cx="8296504" cy="2316109"/>
            <a:chOff x="0" y="0"/>
            <a:chExt cx="11062005" cy="308814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061954" cy="3088132"/>
            </a:xfrm>
            <a:custGeom>
              <a:avLst/>
              <a:gdLst/>
              <a:ahLst/>
              <a:cxnLst/>
              <a:rect l="l" t="t" r="r" b="b"/>
              <a:pathLst>
                <a:path w="11061954" h="3088132">
                  <a:moveTo>
                    <a:pt x="0" y="0"/>
                  </a:moveTo>
                  <a:lnTo>
                    <a:pt x="11061954" y="0"/>
                  </a:lnTo>
                  <a:lnTo>
                    <a:pt x="11061954" y="3088132"/>
                  </a:lnTo>
                  <a:lnTo>
                    <a:pt x="0" y="3088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0706119" y="4850235"/>
            <a:ext cx="6204604" cy="31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F17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Mobilenetv2 phase 2 result  with AdamW loss function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EDGE DEVICE INFERENCE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57250" y="6789239"/>
            <a:ext cx="2503351" cy="14402"/>
            <a:chOff x="0" y="0"/>
            <a:chExt cx="3337801" cy="192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360468" y="6789239"/>
            <a:ext cx="5426554" cy="14402"/>
            <a:chOff x="0" y="0"/>
            <a:chExt cx="7235406" cy="192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857250" y="7637783"/>
            <a:ext cx="2503351" cy="14402"/>
            <a:chOff x="0" y="0"/>
            <a:chExt cx="3337801" cy="192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3360468" y="7637783"/>
            <a:ext cx="5426554" cy="14402"/>
            <a:chOff x="0" y="0"/>
            <a:chExt cx="7235406" cy="192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57250" y="8486327"/>
            <a:ext cx="2503351" cy="14402"/>
            <a:chOff x="0" y="0"/>
            <a:chExt cx="3337801" cy="192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37814" cy="19177"/>
            </a:xfrm>
            <a:custGeom>
              <a:avLst/>
              <a:gdLst/>
              <a:ahLst/>
              <a:cxnLst/>
              <a:rect l="l" t="t" r="r" b="b"/>
              <a:pathLst>
                <a:path w="3337814" h="19177">
                  <a:moveTo>
                    <a:pt x="0" y="0"/>
                  </a:moveTo>
                  <a:lnTo>
                    <a:pt x="3337814" y="0"/>
                  </a:lnTo>
                  <a:lnTo>
                    <a:pt x="333781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360468" y="8486327"/>
            <a:ext cx="5426554" cy="14402"/>
            <a:chOff x="0" y="0"/>
            <a:chExt cx="7235406" cy="1920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35444" cy="19177"/>
            </a:xfrm>
            <a:custGeom>
              <a:avLst/>
              <a:gdLst/>
              <a:ahLst/>
              <a:cxnLst/>
              <a:rect l="l" t="t" r="r" b="b"/>
              <a:pathLst>
                <a:path w="7235444" h="19177">
                  <a:moveTo>
                    <a:pt x="0" y="0"/>
                  </a:moveTo>
                  <a:lnTo>
                    <a:pt x="7235444" y="0"/>
                  </a:lnTo>
                  <a:lnTo>
                    <a:pt x="723544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613823" y="2418483"/>
            <a:ext cx="4800600" cy="2940377"/>
            <a:chOff x="0" y="0"/>
            <a:chExt cx="6400800" cy="39205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400800" cy="3920490"/>
            </a:xfrm>
            <a:custGeom>
              <a:avLst/>
              <a:gdLst/>
              <a:ahLst/>
              <a:cxnLst/>
              <a:rect l="l" t="t" r="r" b="b"/>
              <a:pathLst>
                <a:path w="6400800" h="3920490">
                  <a:moveTo>
                    <a:pt x="0" y="0"/>
                  </a:moveTo>
                  <a:lnTo>
                    <a:pt x="6400800" y="0"/>
                  </a:lnTo>
                  <a:lnTo>
                    <a:pt x="6400800" y="3920490"/>
                  </a:lnTo>
                  <a:lnTo>
                    <a:pt x="0" y="3920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735885" y="4017283"/>
            <a:ext cx="7105945" cy="711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 </a:t>
            </a:r>
            <a:r>
              <a:rPr lang="en-US"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inference image having JSON overhead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Complex image will block the UI thread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35885" y="6633077"/>
            <a:ext cx="7326897" cy="140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 </a:t>
            </a:r>
            <a:r>
              <a:rPr lang="en-US"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JSI approach : allow Javascript engine hold a C++ objects in native memory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Quantization: exchange a very small amount of accuracy to shrink the model and for better performance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04961" y="6101248"/>
            <a:ext cx="7551296" cy="459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Solution: react-native-fast-tflite &amp; quantization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04961" y="3396691"/>
            <a:ext cx="4317149" cy="459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React Native Problem: 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029514" y="6534340"/>
            <a:ext cx="1969208" cy="2221278"/>
            <a:chOff x="0" y="0"/>
            <a:chExt cx="2625611" cy="29617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625598" cy="2961640"/>
            </a:xfrm>
            <a:custGeom>
              <a:avLst/>
              <a:gdLst/>
              <a:ahLst/>
              <a:cxnLst/>
              <a:rect l="l" t="t" r="r" b="b"/>
              <a:pathLst>
                <a:path w="2625598" h="2961640">
                  <a:moveTo>
                    <a:pt x="0" y="0"/>
                  </a:moveTo>
                  <a:lnTo>
                    <a:pt x="2625598" y="0"/>
                  </a:lnTo>
                  <a:lnTo>
                    <a:pt x="2625598" y="2961640"/>
                  </a:lnTo>
                  <a:lnTo>
                    <a:pt x="0" y="2961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"/>
              </a:stretch>
            </a:blipFill>
          </p:spPr>
        </p:sp>
      </p:grpSp>
      <p:sp>
        <p:nvSpPr>
          <p:cNvPr id="29" name="AutoShape 29"/>
          <p:cNvSpPr/>
          <p:nvPr/>
        </p:nvSpPr>
        <p:spPr>
          <a:xfrm rot="5261580">
            <a:off x="13193782" y="5733221"/>
            <a:ext cx="1632118" cy="0"/>
          </a:xfrm>
          <a:prstGeom prst="line">
            <a:avLst/>
          </a:prstGeom>
          <a:ln w="28575" cap="rnd">
            <a:solidFill>
              <a:srgbClr val="1F497D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0" name="Group 3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6481801" cy="1454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VISUALIZATION: WEB &amp; MOBILE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57250" y="3829269"/>
            <a:ext cx="8326041" cy="328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 App (React Native)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326" y="6302959"/>
            <a:ext cx="8325898" cy="32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 Portal (React &amp; Tailwind)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7312" y="4190714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Smart Camera with leaf detection overlay.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312" y="4704912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Real-time environmental monitoring dashboard.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7389" y="5231702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Personalized treatment and alert.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7312" y="6636830"/>
            <a:ext cx="6147454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Centralized management of IoT nodes and sensors.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7312" y="7642498"/>
            <a:ext cx="6196498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Global data analytics and user account administration.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7250" y="4359031"/>
            <a:ext cx="285750" cy="300038"/>
            <a:chOff x="0" y="0"/>
            <a:chExt cx="381000" cy="4000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57250" y="4886049"/>
            <a:ext cx="285750" cy="300038"/>
            <a:chOff x="0" y="0"/>
            <a:chExt cx="381000" cy="4000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57326" y="5398560"/>
            <a:ext cx="285750" cy="300038"/>
            <a:chOff x="0" y="0"/>
            <a:chExt cx="381000" cy="4000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57250" y="6817814"/>
            <a:ext cx="285750" cy="300038"/>
            <a:chOff x="0" y="0"/>
            <a:chExt cx="381000" cy="40005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857250" y="7823483"/>
            <a:ext cx="285750" cy="300038"/>
            <a:chOff x="0" y="0"/>
            <a:chExt cx="381000" cy="40005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357312" y="8648176"/>
            <a:ext cx="6147454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Expert consulting dashboard and workspace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57250" y="8829161"/>
            <a:ext cx="285750" cy="300038"/>
            <a:chOff x="0" y="0"/>
            <a:chExt cx="381000" cy="40005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7750159" y="1385888"/>
            <a:ext cx="10350151" cy="8823636"/>
            <a:chOff x="0" y="0"/>
            <a:chExt cx="13800201" cy="117648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800201" cy="11764899"/>
            </a:xfrm>
            <a:custGeom>
              <a:avLst/>
              <a:gdLst/>
              <a:ahLst/>
              <a:cxnLst/>
              <a:rect l="l" t="t" r="r" b="b"/>
              <a:pathLst>
                <a:path w="13800201" h="11764899">
                  <a:moveTo>
                    <a:pt x="0" y="0"/>
                  </a:moveTo>
                  <a:lnTo>
                    <a:pt x="13800201" y="0"/>
                  </a:lnTo>
                  <a:lnTo>
                    <a:pt x="13800201" y="11764899"/>
                  </a:lnTo>
                  <a:lnTo>
                    <a:pt x="0" y="11764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VISUALIZATION: WEB &amp; MOBILE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57250" y="3165300"/>
            <a:ext cx="11230766" cy="5372252"/>
            <a:chOff x="0" y="0"/>
            <a:chExt cx="14974354" cy="71630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974315" cy="7163054"/>
            </a:xfrm>
            <a:custGeom>
              <a:avLst/>
              <a:gdLst/>
              <a:ahLst/>
              <a:cxnLst/>
              <a:rect l="l" t="t" r="r" b="b"/>
              <a:pathLst>
                <a:path w="14974315" h="7163054">
                  <a:moveTo>
                    <a:pt x="0" y="0"/>
                  </a:moveTo>
                  <a:lnTo>
                    <a:pt x="14974315" y="0"/>
                  </a:lnTo>
                  <a:lnTo>
                    <a:pt x="14974315" y="7163054"/>
                  </a:lnTo>
                  <a:lnTo>
                    <a:pt x="0" y="7163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3899070" y="3067421"/>
            <a:ext cx="2553700" cy="5372252"/>
            <a:chOff x="0" y="0"/>
            <a:chExt cx="3404934" cy="7163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04997" cy="7163054"/>
            </a:xfrm>
            <a:custGeom>
              <a:avLst/>
              <a:gdLst/>
              <a:ahLst/>
              <a:cxnLst/>
              <a:rect l="l" t="t" r="r" b="b"/>
              <a:pathLst>
                <a:path w="3404997" h="7163054">
                  <a:moveTo>
                    <a:pt x="0" y="0"/>
                  </a:moveTo>
                  <a:lnTo>
                    <a:pt x="3404997" y="0"/>
                  </a:lnTo>
                  <a:lnTo>
                    <a:pt x="3404997" y="7163054"/>
                  </a:lnTo>
                  <a:lnTo>
                    <a:pt x="0" y="7163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10" r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780589" y="8611362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Plant Event Management Calendar UI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VISUALIZATION: WEB &amp; MOBILE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57250" y="2802941"/>
            <a:ext cx="12369184" cy="5929989"/>
            <a:chOff x="0" y="0"/>
            <a:chExt cx="16492245" cy="79066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92220" cy="7906639"/>
            </a:xfrm>
            <a:custGeom>
              <a:avLst/>
              <a:gdLst/>
              <a:ahLst/>
              <a:cxnLst/>
              <a:rect l="l" t="t" r="r" b="b"/>
              <a:pathLst>
                <a:path w="16492220" h="7906639">
                  <a:moveTo>
                    <a:pt x="0" y="0"/>
                  </a:moveTo>
                  <a:lnTo>
                    <a:pt x="16492220" y="0"/>
                  </a:lnTo>
                  <a:lnTo>
                    <a:pt x="16492220" y="7906639"/>
                  </a:lnTo>
                  <a:lnTo>
                    <a:pt x="0" y="7906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4181087" y="2843889"/>
            <a:ext cx="2779938" cy="5848093"/>
            <a:chOff x="0" y="0"/>
            <a:chExt cx="3706584" cy="77974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06622" cy="7797419"/>
            </a:xfrm>
            <a:custGeom>
              <a:avLst/>
              <a:gdLst/>
              <a:ahLst/>
              <a:cxnLst/>
              <a:rect l="l" t="t" r="r" b="b"/>
              <a:pathLst>
                <a:path w="3706622" h="7797419">
                  <a:moveTo>
                    <a:pt x="0" y="0"/>
                  </a:moveTo>
                  <a:lnTo>
                    <a:pt x="3706622" y="0"/>
                  </a:lnTo>
                  <a:lnTo>
                    <a:pt x="3706622" y="7797419"/>
                  </a:lnTo>
                  <a:lnTo>
                    <a:pt x="0" y="779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10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289462" y="8709231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Leaf Detection Screen - Disease Detection Workflow UI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VISUALIZATION: WEB &amp; MOBILE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5839311" y="8767963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Detection Result - Disease Detection Workflow UI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4184801" y="2790711"/>
            <a:ext cx="2750277" cy="5780884"/>
            <a:chOff x="0" y="0"/>
            <a:chExt cx="3667036" cy="77078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66998" cy="7707884"/>
            </a:xfrm>
            <a:custGeom>
              <a:avLst/>
              <a:gdLst/>
              <a:ahLst/>
              <a:cxnLst/>
              <a:rect l="l" t="t" r="r" b="b"/>
              <a:pathLst>
                <a:path w="3666998" h="7707884">
                  <a:moveTo>
                    <a:pt x="0" y="0"/>
                  </a:moveTo>
                  <a:lnTo>
                    <a:pt x="3666998" y="0"/>
                  </a:lnTo>
                  <a:lnTo>
                    <a:pt x="3666998" y="7707884"/>
                  </a:lnTo>
                  <a:lnTo>
                    <a:pt x="0" y="7707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99" r="-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12321" y="2790711"/>
            <a:ext cx="12091349" cy="5780884"/>
            <a:chOff x="0" y="0"/>
            <a:chExt cx="16121799" cy="77078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121762" cy="7707884"/>
            </a:xfrm>
            <a:custGeom>
              <a:avLst/>
              <a:gdLst/>
              <a:ahLst/>
              <a:cxnLst/>
              <a:rect l="l" t="t" r="r" b="b"/>
              <a:pathLst>
                <a:path w="16121762" h="7707884">
                  <a:moveTo>
                    <a:pt x="0" y="0"/>
                  </a:moveTo>
                  <a:lnTo>
                    <a:pt x="16121762" y="0"/>
                  </a:lnTo>
                  <a:lnTo>
                    <a:pt x="16121762" y="7707884"/>
                  </a:lnTo>
                  <a:lnTo>
                    <a:pt x="0" y="7707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VISUALIZATION: WEB &amp; MOBILE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5839311" y="8767963"/>
            <a:ext cx="7429500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Detection Result - IoT Manual/Schedule Capture and Auto detect workflow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57250" y="2139296"/>
            <a:ext cx="12909966" cy="6808127"/>
            <a:chOff x="0" y="0"/>
            <a:chExt cx="17213288" cy="90775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213326" cy="9077452"/>
            </a:xfrm>
            <a:custGeom>
              <a:avLst/>
              <a:gdLst/>
              <a:ahLst/>
              <a:cxnLst/>
              <a:rect l="l" t="t" r="r" b="b"/>
              <a:pathLst>
                <a:path w="17213326" h="9077452">
                  <a:moveTo>
                    <a:pt x="0" y="0"/>
                  </a:moveTo>
                  <a:lnTo>
                    <a:pt x="17213326" y="0"/>
                  </a:lnTo>
                  <a:lnTo>
                    <a:pt x="17213326" y="9077452"/>
                  </a:lnTo>
                  <a:lnTo>
                    <a:pt x="0" y="9077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4105172" y="2139296"/>
            <a:ext cx="3144784" cy="6808127"/>
            <a:chOff x="0" y="0"/>
            <a:chExt cx="4193045" cy="90775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93032" cy="9077452"/>
            </a:xfrm>
            <a:custGeom>
              <a:avLst/>
              <a:gdLst/>
              <a:ahLst/>
              <a:cxnLst/>
              <a:rect l="l" t="t" r="r" b="b"/>
              <a:pathLst>
                <a:path w="4193032" h="9077452">
                  <a:moveTo>
                    <a:pt x="0" y="0"/>
                  </a:moveTo>
                  <a:lnTo>
                    <a:pt x="4193032" y="0"/>
                  </a:lnTo>
                  <a:lnTo>
                    <a:pt x="4193032" y="9077452"/>
                  </a:lnTo>
                  <a:lnTo>
                    <a:pt x="0" y="9077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VISUALIZATION: WEB &amp; MOBILE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492127" y="8631003"/>
            <a:ext cx="4633646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Plan generation from RAG Pipeline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57250" y="2939958"/>
            <a:ext cx="11522964" cy="5491124"/>
            <a:chOff x="0" y="0"/>
            <a:chExt cx="15363952" cy="73214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363952" cy="7321550"/>
            </a:xfrm>
            <a:custGeom>
              <a:avLst/>
              <a:gdLst/>
              <a:ahLst/>
              <a:cxnLst/>
              <a:rect l="l" t="t" r="r" b="b"/>
              <a:pathLst>
                <a:path w="15363952" h="7321550">
                  <a:moveTo>
                    <a:pt x="0" y="0"/>
                  </a:moveTo>
                  <a:lnTo>
                    <a:pt x="15363952" y="0"/>
                  </a:lnTo>
                  <a:lnTo>
                    <a:pt x="15363952" y="7321550"/>
                  </a:lnTo>
                  <a:lnTo>
                    <a:pt x="0" y="732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761063" y="2939958"/>
            <a:ext cx="2626062" cy="5491124"/>
            <a:chOff x="0" y="0"/>
            <a:chExt cx="3501415" cy="73214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01390" cy="7321550"/>
            </a:xfrm>
            <a:custGeom>
              <a:avLst/>
              <a:gdLst/>
              <a:ahLst/>
              <a:cxnLst/>
              <a:rect l="l" t="t" r="r" b="b"/>
              <a:pathLst>
                <a:path w="3501390" h="7321550">
                  <a:moveTo>
                    <a:pt x="0" y="0"/>
                  </a:moveTo>
                  <a:lnTo>
                    <a:pt x="3501390" y="0"/>
                  </a:lnTo>
                  <a:lnTo>
                    <a:pt x="3501390" y="7321550"/>
                  </a:lnTo>
                  <a:lnTo>
                    <a:pt x="0" y="732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6350" r="-1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VISUALIZATION: WEB &amp; MOBILE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492127" y="8631003"/>
            <a:ext cx="4633646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Alert viewing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4674987" y="2255958"/>
            <a:ext cx="3003718" cy="6502727"/>
            <a:chOff x="0" y="0"/>
            <a:chExt cx="4004958" cy="86703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04945" cy="8670290"/>
            </a:xfrm>
            <a:custGeom>
              <a:avLst/>
              <a:gdLst/>
              <a:ahLst/>
              <a:cxnLst/>
              <a:rect l="l" t="t" r="r" b="b"/>
              <a:pathLst>
                <a:path w="4004945" h="8670290">
                  <a:moveTo>
                    <a:pt x="0" y="0"/>
                  </a:moveTo>
                  <a:lnTo>
                    <a:pt x="4004945" y="0"/>
                  </a:lnTo>
                  <a:lnTo>
                    <a:pt x="4004945" y="8670290"/>
                  </a:lnTo>
                  <a:lnTo>
                    <a:pt x="0" y="8670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57250" y="2271712"/>
            <a:ext cx="13574039" cy="6502727"/>
            <a:chOff x="0" y="0"/>
            <a:chExt cx="18098719" cy="86703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098770" cy="8670290"/>
            </a:xfrm>
            <a:custGeom>
              <a:avLst/>
              <a:gdLst/>
              <a:ahLst/>
              <a:cxnLst/>
              <a:rect l="l" t="t" r="r" b="b"/>
              <a:pathLst>
                <a:path w="18098770" h="8670290">
                  <a:moveTo>
                    <a:pt x="0" y="0"/>
                  </a:moveTo>
                  <a:lnTo>
                    <a:pt x="18098770" y="0"/>
                  </a:lnTo>
                  <a:lnTo>
                    <a:pt x="18098770" y="8670290"/>
                  </a:lnTo>
                  <a:lnTo>
                    <a:pt x="0" y="8670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 VISUALIZATION: WEB &amp; MOBILE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6827177" y="9378563"/>
            <a:ext cx="4633646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Farm zone’s metrics dashboard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00037" y="3620967"/>
            <a:ext cx="10220935" cy="4660944"/>
            <a:chOff x="0" y="0"/>
            <a:chExt cx="13627913" cy="62145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27863" cy="6214618"/>
            </a:xfrm>
            <a:custGeom>
              <a:avLst/>
              <a:gdLst/>
              <a:ahLst/>
              <a:cxnLst/>
              <a:rect l="l" t="t" r="r" b="b"/>
              <a:pathLst>
                <a:path w="13627863" h="6214618">
                  <a:moveTo>
                    <a:pt x="0" y="0"/>
                  </a:moveTo>
                  <a:lnTo>
                    <a:pt x="13627863" y="0"/>
                  </a:lnTo>
                  <a:lnTo>
                    <a:pt x="13627863" y="6214618"/>
                  </a:lnTo>
                  <a:lnTo>
                    <a:pt x="0" y="6214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178188" y="2255958"/>
            <a:ext cx="3294412" cy="7132101"/>
            <a:chOff x="0" y="0"/>
            <a:chExt cx="4392549" cy="95094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92549" cy="9509506"/>
            </a:xfrm>
            <a:custGeom>
              <a:avLst/>
              <a:gdLst/>
              <a:ahLst/>
              <a:cxnLst/>
              <a:rect l="l" t="t" r="r" b="b"/>
              <a:pathLst>
                <a:path w="4392549" h="9509506">
                  <a:moveTo>
                    <a:pt x="0" y="0"/>
                  </a:moveTo>
                  <a:lnTo>
                    <a:pt x="4392549" y="0"/>
                  </a:lnTo>
                  <a:lnTo>
                    <a:pt x="4392549" y="9509506"/>
                  </a:lnTo>
                  <a:lnTo>
                    <a:pt x="0" y="9509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4623123" y="2255958"/>
            <a:ext cx="3294412" cy="7132101"/>
            <a:chOff x="0" y="0"/>
            <a:chExt cx="4392549" cy="95094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92549" cy="9509506"/>
            </a:xfrm>
            <a:custGeom>
              <a:avLst/>
              <a:gdLst/>
              <a:ahLst/>
              <a:cxnLst/>
              <a:rect l="l" t="t" r="r" b="b"/>
              <a:pathLst>
                <a:path w="4392549" h="9509506">
                  <a:moveTo>
                    <a:pt x="0" y="0"/>
                  </a:moveTo>
                  <a:lnTo>
                    <a:pt x="4392549" y="0"/>
                  </a:lnTo>
                  <a:lnTo>
                    <a:pt x="4392549" y="9509506"/>
                  </a:lnTo>
                  <a:lnTo>
                    <a:pt x="0" y="9509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6827196" y="9486109"/>
            <a:ext cx="4633646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Testing metrics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350294" y="2113083"/>
            <a:ext cx="13587412" cy="7429500"/>
            <a:chOff x="0" y="0"/>
            <a:chExt cx="18116550" cy="990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116550" cy="9906000"/>
            </a:xfrm>
            <a:custGeom>
              <a:avLst/>
              <a:gdLst/>
              <a:ahLst/>
              <a:cxnLst/>
              <a:rect l="l" t="t" r="r" b="b"/>
              <a:pathLst>
                <a:path w="18116550" h="9906000">
                  <a:moveTo>
                    <a:pt x="0" y="0"/>
                  </a:moveTo>
                  <a:lnTo>
                    <a:pt x="18116550" y="0"/>
                  </a:lnTo>
                  <a:lnTo>
                    <a:pt x="18116550" y="9906000"/>
                  </a:lnTo>
                  <a:lnTo>
                    <a:pt x="0" y="990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6827158" y="7657910"/>
            <a:ext cx="4633646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Preview test cases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0" y="2808761"/>
            <a:ext cx="18288000" cy="4669488"/>
            <a:chOff x="0" y="0"/>
            <a:chExt cx="24384000" cy="62259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6225921"/>
            </a:xfrm>
            <a:custGeom>
              <a:avLst/>
              <a:gdLst/>
              <a:ahLst/>
              <a:cxnLst/>
              <a:rect l="l" t="t" r="r" b="b"/>
              <a:pathLst>
                <a:path w="24384000" h="6225921">
                  <a:moveTo>
                    <a:pt x="0" y="0"/>
                  </a:moveTo>
                  <a:lnTo>
                    <a:pt x="24384000" y="0"/>
                  </a:lnTo>
                  <a:lnTo>
                    <a:pt x="24384000" y="6225921"/>
                  </a:lnTo>
                  <a:lnTo>
                    <a:pt x="0" y="62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"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6827158" y="7657910"/>
            <a:ext cx="4633646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Preview test cases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143000" y="2128847"/>
            <a:ext cx="16573500" cy="7768828"/>
            <a:chOff x="0" y="0"/>
            <a:chExt cx="22098000" cy="103584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98000" cy="10358501"/>
            </a:xfrm>
            <a:custGeom>
              <a:avLst/>
              <a:gdLst/>
              <a:ahLst/>
              <a:cxnLst/>
              <a:rect l="l" t="t" r="r" b="b"/>
              <a:pathLst>
                <a:path w="22098000" h="10358501">
                  <a:moveTo>
                    <a:pt x="0" y="0"/>
                  </a:moveTo>
                  <a:lnTo>
                    <a:pt x="22098000" y="0"/>
                  </a:lnTo>
                  <a:lnTo>
                    <a:pt x="22098000" y="10358501"/>
                  </a:lnTo>
                  <a:lnTo>
                    <a:pt x="0" y="10358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4025055"/>
            <a:ext cx="5286375" cy="3508477"/>
            <a:chOff x="0" y="0"/>
            <a:chExt cx="7048500" cy="4677969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048500" cy="4677918"/>
            </a:xfrm>
            <a:custGeom>
              <a:avLst/>
              <a:gdLst/>
              <a:ahLst/>
              <a:cxnLst/>
              <a:rect l="l" t="t" r="r" b="b"/>
              <a:pathLst>
                <a:path w="7048500" h="4677918">
                  <a:moveTo>
                    <a:pt x="0" y="0"/>
                  </a:moveTo>
                  <a:lnTo>
                    <a:pt x="7048500" y="0"/>
                  </a:lnTo>
                  <a:lnTo>
                    <a:pt x="7048500" y="4677918"/>
                  </a:lnTo>
                  <a:lnTo>
                    <a:pt x="0" y="4677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8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500812" y="4025055"/>
            <a:ext cx="5286375" cy="3508477"/>
            <a:chOff x="0" y="0"/>
            <a:chExt cx="7048500" cy="4677969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048500" cy="4677918"/>
            </a:xfrm>
            <a:custGeom>
              <a:avLst/>
              <a:gdLst/>
              <a:ahLst/>
              <a:cxnLst/>
              <a:rect l="l" t="t" r="r" b="b"/>
              <a:pathLst>
                <a:path w="7048500" h="4677918">
                  <a:moveTo>
                    <a:pt x="0" y="0"/>
                  </a:moveTo>
                  <a:lnTo>
                    <a:pt x="7048500" y="0"/>
                  </a:lnTo>
                  <a:lnTo>
                    <a:pt x="7048500" y="4677918"/>
                  </a:lnTo>
                  <a:lnTo>
                    <a:pt x="0" y="4677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58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144375" y="4025055"/>
            <a:ext cx="5286375" cy="3508477"/>
            <a:chOff x="0" y="0"/>
            <a:chExt cx="7048500" cy="4677969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048500" cy="4677918"/>
            </a:xfrm>
            <a:custGeom>
              <a:avLst/>
              <a:gdLst/>
              <a:ahLst/>
              <a:cxnLst/>
              <a:rect l="l" t="t" r="r" b="b"/>
              <a:pathLst>
                <a:path w="7048500" h="4677918">
                  <a:moveTo>
                    <a:pt x="0" y="0"/>
                  </a:moveTo>
                  <a:lnTo>
                    <a:pt x="7048500" y="0"/>
                  </a:lnTo>
                  <a:lnTo>
                    <a:pt x="7048500" y="4677918"/>
                  </a:lnTo>
                  <a:lnTo>
                    <a:pt x="0" y="4677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58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28725" y="4553693"/>
            <a:ext cx="571500" cy="571500"/>
            <a:chOff x="0" y="0"/>
            <a:chExt cx="762000" cy="762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250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872288" y="4553693"/>
            <a:ext cx="428625" cy="571500"/>
            <a:chOff x="0" y="0"/>
            <a:chExt cx="571500" cy="7620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0" y="0"/>
                  </a:moveTo>
                  <a:lnTo>
                    <a:pt x="571500" y="0"/>
                  </a:lnTo>
                  <a:lnTo>
                    <a:pt x="571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250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2515850" y="4553693"/>
            <a:ext cx="642938" cy="571500"/>
            <a:chOff x="0" y="0"/>
            <a:chExt cx="857250" cy="7620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857250" cy="762000"/>
            </a:xfrm>
            <a:custGeom>
              <a:avLst/>
              <a:gdLst/>
              <a:ahLst/>
              <a:cxnLst/>
              <a:rect l="l" t="t" r="r" b="b"/>
              <a:pathLst>
                <a:path w="857250" h="762000">
                  <a:moveTo>
                    <a:pt x="0" y="0"/>
                  </a:moveTo>
                  <a:lnTo>
                    <a:pt x="857250" y="0"/>
                  </a:lnTo>
                  <a:lnTo>
                    <a:pt x="857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250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143000" y="1385888"/>
            <a:ext cx="1710213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SYSTEM CONSTRAINTS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228725" y="5439518"/>
            <a:ext cx="4770453" cy="381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Regional Dataset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8725" y="5863380"/>
            <a:ext cx="4543654" cy="136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1912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Data not collected from Vietnam but from different source of foreign country. Cause the model performance to be less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72288" y="5439518"/>
            <a:ext cx="4770596" cy="38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RAG Latency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72288" y="5863380"/>
            <a:ext cx="4543654" cy="136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1912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Multi-agent analysis and safety auditing on LangGraph takes 30-50 seconds per query.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15850" y="5439518"/>
            <a:ext cx="4770596" cy="38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064E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Severity Metric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15850" y="5863380"/>
            <a:ext cx="4543425" cy="129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1912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Currently limited to classification; lacks segmentation to calculate exact percentage of leaf damage.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01188" y="3285230"/>
            <a:ext cx="7929562" cy="4988119"/>
            <a:chOff x="0" y="0"/>
            <a:chExt cx="10572750" cy="6650825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6650863"/>
            </a:xfrm>
            <a:custGeom>
              <a:avLst/>
              <a:gdLst/>
              <a:ahLst/>
              <a:cxnLst/>
              <a:rect l="l" t="t" r="r" b="b"/>
              <a:pathLst>
                <a:path w="10572750" h="6650863">
                  <a:moveTo>
                    <a:pt x="0" y="0"/>
                  </a:moveTo>
                  <a:lnTo>
                    <a:pt x="10572750" y="0"/>
                  </a:lnTo>
                  <a:lnTo>
                    <a:pt x="10572750" y="6650863"/>
                  </a:lnTo>
                  <a:lnTo>
                    <a:pt x="0" y="6650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3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515475" y="3299517"/>
            <a:ext cx="7900988" cy="4959544"/>
            <a:chOff x="0" y="0"/>
            <a:chExt cx="10534650" cy="6612725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534650" cy="6612763"/>
            </a:xfrm>
            <a:custGeom>
              <a:avLst/>
              <a:gdLst/>
              <a:ahLst/>
              <a:cxnLst/>
              <a:rect l="l" t="t" r="r" b="b"/>
              <a:pathLst>
                <a:path w="10534650" h="6612763">
                  <a:moveTo>
                    <a:pt x="0" y="0"/>
                  </a:moveTo>
                  <a:lnTo>
                    <a:pt x="10534650" y="0"/>
                  </a:lnTo>
                  <a:lnTo>
                    <a:pt x="10534650" y="6612763"/>
                  </a:lnTo>
                  <a:lnTo>
                    <a:pt x="0" y="6612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75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43000" y="1385888"/>
            <a:ext cx="1710213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SUMMARY &amp; FUTURE ROADMAP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857250" y="3285230"/>
            <a:ext cx="8326041" cy="328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Achievements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7250" y="5779294"/>
            <a:ext cx="8326041" cy="328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Roadmap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7312" y="3461442"/>
            <a:ext cx="7429500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Successful integration of a holistic AIoT ecosystem for coffee health monitoring and leaf disease detection.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7312" y="4544168"/>
            <a:ext cx="7429500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Robust Offline Edge-AI solution addressing internet connectivity gaps.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7312" y="5955506"/>
            <a:ext cx="7429500" cy="102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Implement Segmentation models for automated severity quantification.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7312" y="7038232"/>
            <a:ext cx="7429500" cy="102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Integrate smart actuators for automated irrigation and precision spraying.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57250" y="3642417"/>
            <a:ext cx="285750" cy="300038"/>
            <a:chOff x="0" y="0"/>
            <a:chExt cx="381000" cy="40005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857250" y="4725143"/>
            <a:ext cx="285750" cy="300038"/>
            <a:chOff x="0" y="0"/>
            <a:chExt cx="381000" cy="40005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857250" y="6136481"/>
            <a:ext cx="285750" cy="300038"/>
            <a:chOff x="0" y="0"/>
            <a:chExt cx="381000" cy="40005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857250" y="7219207"/>
            <a:ext cx="285750" cy="300038"/>
            <a:chOff x="0" y="0"/>
            <a:chExt cx="381000" cy="40005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LEAFY AGRITECH STARTUP CONCEPT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57250" y="3487960"/>
            <a:ext cx="8325898" cy="32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Startup concept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312" y="3917556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AI + IoT precision agriculture platform for coffee farming.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7312" y="4544206"/>
            <a:ext cx="742950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Connects farmers with agricultural experts.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7312" y="5170894"/>
            <a:ext cx="7429500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Combines disease diagnosis, treatment planning, and environment monitoring.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7312" y="6323590"/>
            <a:ext cx="7429500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Core technologies: Computer Vision, Agentic RAG, IoT sensors, Edge AI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7250" y="4098531"/>
            <a:ext cx="285750" cy="300038"/>
            <a:chOff x="0" y="0"/>
            <a:chExt cx="381000" cy="4000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57250" y="4725181"/>
            <a:ext cx="285750" cy="300038"/>
            <a:chOff x="0" y="0"/>
            <a:chExt cx="381000" cy="4000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57250" y="5351869"/>
            <a:ext cx="285750" cy="300038"/>
            <a:chOff x="0" y="0"/>
            <a:chExt cx="381000" cy="4000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57250" y="6504565"/>
            <a:ext cx="285750" cy="300038"/>
            <a:chOff x="0" y="0"/>
            <a:chExt cx="381000" cy="40005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8786812" y="2977877"/>
            <a:ext cx="8969473" cy="5047983"/>
            <a:chOff x="0" y="0"/>
            <a:chExt cx="11959298" cy="67306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959336" cy="6730619"/>
            </a:xfrm>
            <a:custGeom>
              <a:avLst/>
              <a:gdLst/>
              <a:ahLst/>
              <a:cxnLst/>
              <a:rect l="l" t="t" r="r" b="b"/>
              <a:pathLst>
                <a:path w="11959336" h="6730619">
                  <a:moveTo>
                    <a:pt x="0" y="0"/>
                  </a:moveTo>
                  <a:lnTo>
                    <a:pt x="11959336" y="0"/>
                  </a:lnTo>
                  <a:lnTo>
                    <a:pt x="11959336" y="6730619"/>
                  </a:lnTo>
                  <a:lnTo>
                    <a:pt x="0" y="673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857250"/>
            <a:ext cx="16573500" cy="385762"/>
            <a:chOff x="0" y="0"/>
            <a:chExt cx="22098000" cy="514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514350"/>
            </a:xfrm>
            <a:custGeom>
              <a:avLst/>
              <a:gdLst/>
              <a:ahLst/>
              <a:cxnLst/>
              <a:rect l="l" t="t" r="r" b="b"/>
              <a:pathLst>
                <a:path w="22098000" h="514350">
                  <a:moveTo>
                    <a:pt x="0" y="0"/>
                  </a:moveTo>
                  <a:lnTo>
                    <a:pt x="22098000" y="0"/>
                  </a:lnTo>
                  <a:lnTo>
                    <a:pt x="220980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1385888"/>
            <a:ext cx="17102252" cy="72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MODEL AND DEPLOYMENT VISION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385888"/>
            <a:ext cx="114300" cy="742950"/>
            <a:chOff x="0" y="0"/>
            <a:chExt cx="152400" cy="990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990600"/>
            </a:xfrm>
            <a:custGeom>
              <a:avLst/>
              <a:gdLst/>
              <a:ahLst/>
              <a:cxnLst/>
              <a:rect l="l" t="t" r="r" b="b"/>
              <a:pathLst>
                <a:path w="152400" h="9906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57250" y="2998089"/>
            <a:ext cx="8325898" cy="32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Model &amp; Growth Roadmap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312" y="3427686"/>
            <a:ext cx="6885899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Target users: small farmers, large farms/cooperatives, experts, suppliers.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7312" y="4540691"/>
            <a:ext cx="6885899" cy="153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Revenue streams: SaaS subscription, expert booking fees, IoT hardware packages, e-commerce commission.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7312" y="6109764"/>
            <a:ext cx="6615446" cy="153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Revenue streams: SaaS subscription, expert booking fees, IoT hardware packages, e-commerce commission.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7312" y="7678836"/>
            <a:ext cx="6885899" cy="100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Long-term vision: become a digital operating system for agriculture.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7250" y="3608670"/>
            <a:ext cx="285750" cy="300038"/>
            <a:chOff x="0" y="0"/>
            <a:chExt cx="381000" cy="4000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57250" y="4721657"/>
            <a:ext cx="285750" cy="300038"/>
            <a:chOff x="0" y="0"/>
            <a:chExt cx="381000" cy="4000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57250" y="6290758"/>
            <a:ext cx="285750" cy="300038"/>
            <a:chOff x="0" y="0"/>
            <a:chExt cx="381000" cy="4000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57250" y="7859820"/>
            <a:ext cx="285750" cy="300038"/>
            <a:chOff x="0" y="0"/>
            <a:chExt cx="381000" cy="40005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8457524" y="3151965"/>
            <a:ext cx="9496349" cy="5344525"/>
            <a:chOff x="0" y="0"/>
            <a:chExt cx="12661798" cy="71260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661773" cy="7125970"/>
            </a:xfrm>
            <a:custGeom>
              <a:avLst/>
              <a:gdLst/>
              <a:ahLst/>
              <a:cxnLst/>
              <a:rect l="l" t="t" r="r" b="b"/>
              <a:pathLst>
                <a:path w="12661773" h="7125970">
                  <a:moveTo>
                    <a:pt x="0" y="0"/>
                  </a:moveTo>
                  <a:lnTo>
                    <a:pt x="12661773" y="0"/>
                  </a:lnTo>
                  <a:lnTo>
                    <a:pt x="12661773" y="7125970"/>
                  </a:lnTo>
                  <a:lnTo>
                    <a:pt x="0" y="712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573000" y="4572000"/>
            <a:ext cx="7143750" cy="7143750"/>
            <a:chOff x="0" y="0"/>
            <a:chExt cx="9525000" cy="9525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9525000" cy="9525000"/>
            </a:xfrm>
            <a:custGeom>
              <a:avLst/>
              <a:gdLst/>
              <a:ahLst/>
              <a:cxnLst/>
              <a:rect l="l" t="t" r="r" b="b"/>
              <a:pathLst>
                <a:path w="9525000" h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57250" y="6333601"/>
            <a:ext cx="16573500" cy="1420044"/>
            <a:chOff x="0" y="0"/>
            <a:chExt cx="22098000" cy="1893392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098000" cy="1893443"/>
            </a:xfrm>
            <a:custGeom>
              <a:avLst/>
              <a:gdLst/>
              <a:ahLst/>
              <a:cxnLst/>
              <a:rect l="l" t="t" r="r" b="b"/>
              <a:pathLst>
                <a:path w="22098000" h="1893443">
                  <a:moveTo>
                    <a:pt x="0" y="0"/>
                  </a:moveTo>
                  <a:lnTo>
                    <a:pt x="22098000" y="0"/>
                  </a:lnTo>
                  <a:lnTo>
                    <a:pt x="22098000" y="1893443"/>
                  </a:lnTo>
                  <a:lnTo>
                    <a:pt x="0" y="1893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1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779294" y="7133701"/>
            <a:ext cx="257175" cy="271462"/>
            <a:chOff x="0" y="0"/>
            <a:chExt cx="342900" cy="3619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7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42912" y="2533126"/>
            <a:ext cx="17402175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Q&amp;A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4276201"/>
            <a:ext cx="165735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375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attention!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5184" y="6952564"/>
            <a:ext cx="16402050" cy="48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Project Repo: https://github.com/kltnhoanghao2026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5151237" y="-19050"/>
            <a:ext cx="3086100" cy="1176795"/>
            <a:chOff x="0" y="0"/>
            <a:chExt cx="4114800" cy="15690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14800" cy="1569085"/>
            </a:xfrm>
            <a:custGeom>
              <a:avLst/>
              <a:gdLst/>
              <a:ahLst/>
              <a:cxnLst/>
              <a:rect l="l" t="t" r="r" b="b"/>
              <a:pathLst>
                <a:path w="4114800" h="1569085">
                  <a:moveTo>
                    <a:pt x="0" y="0"/>
                  </a:moveTo>
                  <a:lnTo>
                    <a:pt x="4114800" y="0"/>
                  </a:lnTo>
                  <a:lnTo>
                    <a:pt x="4114800" y="1569085"/>
                  </a:lnTo>
                  <a:lnTo>
                    <a:pt x="0" y="156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2101</Words>
  <Application>Microsoft Office PowerPoint</Application>
  <PresentationFormat>Custom</PresentationFormat>
  <Paragraphs>374</Paragraphs>
  <Slides>40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Arimo Bold</vt:lpstr>
      <vt:lpstr>Open Sans</vt:lpstr>
      <vt:lpstr>Arial</vt:lpstr>
      <vt:lpstr>Asap Bold</vt:lpstr>
      <vt:lpstr>Arial Bold</vt:lpstr>
      <vt:lpstr>Times New Roman</vt:lpstr>
      <vt:lpstr>Times New Roman Bold</vt:lpstr>
      <vt:lpstr>Montserrat Bold</vt:lpstr>
      <vt:lpstr>Arimo</vt:lpstr>
      <vt:lpstr>Asap</vt:lpstr>
      <vt:lpstr>Open Sans Bold</vt:lpstr>
      <vt:lpstr>Noto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Slide_KLTN.pptx</dc:title>
  <cp:lastModifiedBy>Bùi Tấn Phát</cp:lastModifiedBy>
  <cp:revision>4</cp:revision>
  <dcterms:created xsi:type="dcterms:W3CDTF">2006-08-16T00:00:00Z</dcterms:created>
  <dcterms:modified xsi:type="dcterms:W3CDTF">2026-09-27T13:58:12Z</dcterms:modified>
  <dc:identifier>DAHWHuoOzkQ</dc:identifier>
</cp:coreProperties>
</file>